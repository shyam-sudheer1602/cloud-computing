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wav" ContentType="audio/x-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A103E699-182D-48DF-9D34-0CA40F5BD57A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03E6BE0B-CCF6-498A-BE29-4853670D16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1129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3E699-182D-48DF-9D34-0CA40F5BD57A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6BE0B-CCF6-498A-BE29-4853670D16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1703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3E699-182D-48DF-9D34-0CA40F5BD57A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6BE0B-CCF6-498A-BE29-4853670D16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2921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3E699-182D-48DF-9D34-0CA40F5BD57A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6BE0B-CCF6-498A-BE29-4853670D16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4811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3E699-182D-48DF-9D34-0CA40F5BD57A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6BE0B-CCF6-498A-BE29-4853670D16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7511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3E699-182D-48DF-9D34-0CA40F5BD57A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6BE0B-CCF6-498A-BE29-4853670D16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6408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3E699-182D-48DF-9D34-0CA40F5BD57A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6BE0B-CCF6-498A-BE29-4853670D16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9168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3E699-182D-48DF-9D34-0CA40F5BD57A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6BE0B-CCF6-498A-BE29-4853670D16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4922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3E699-182D-48DF-9D34-0CA40F5BD57A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6BE0B-CCF6-498A-BE29-4853670D16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4655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3E699-182D-48DF-9D34-0CA40F5BD57A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6BE0B-CCF6-498A-BE29-4853670D16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8374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3E699-182D-48DF-9D34-0CA40F5BD57A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6BE0B-CCF6-498A-BE29-4853670D16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59257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3E699-182D-48DF-9D34-0CA40F5BD57A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6BE0B-CCF6-498A-BE29-4853670D16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55098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3E699-182D-48DF-9D34-0CA40F5BD57A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6BE0B-CCF6-498A-BE29-4853670D16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20105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3E699-182D-48DF-9D34-0CA40F5BD57A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6BE0B-CCF6-498A-BE29-4853670D16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25102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3E699-182D-48DF-9D34-0CA40F5BD57A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6BE0B-CCF6-498A-BE29-4853670D16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0905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A103E699-182D-48DF-9D34-0CA40F5BD57A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6BE0B-CCF6-498A-BE29-4853670D16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05352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A103E699-182D-48DF-9D34-0CA40F5BD57A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6BE0B-CCF6-498A-BE29-4853670D16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0856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A103E699-182D-48DF-9D34-0CA40F5BD57A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03E6BE0B-CCF6-498A-BE29-4853670D16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5210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6600" b="1" dirty="0" smtClean="0"/>
              <a:t>CLOUD DEPLOYMENT </a:t>
            </a:r>
            <a:br>
              <a:rPr lang="en-IN" sz="6600" b="1" dirty="0" smtClean="0"/>
            </a:br>
            <a:r>
              <a:rPr lang="en-IN" sz="6600" b="1" dirty="0" smtClean="0"/>
              <a:t>MODELS</a:t>
            </a:r>
            <a:endParaRPr lang="en-IN" sz="6600" b="1" dirty="0"/>
          </a:p>
        </p:txBody>
      </p:sp>
    </p:spTree>
    <p:extLst>
      <p:ext uri="{BB962C8B-B14F-4D97-AF65-F5344CB8AC3E}">
        <p14:creationId xmlns:p14="http://schemas.microsoft.com/office/powerpoint/2010/main" val="189308448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/>
              <a:t>Cloud Deployment Models</a:t>
            </a:r>
          </a:p>
          <a:p>
            <a:pPr algn="ctr"/>
            <a:r>
              <a:rPr lang="en-US" sz="3200" b="1" dirty="0"/>
              <a:t>Cloud Computing </a:t>
            </a:r>
          </a:p>
          <a:p>
            <a:pPr algn="ctr"/>
            <a:r>
              <a:rPr lang="en-US" sz="3200" b="1" dirty="0"/>
              <a:t>Prepared By: </a:t>
            </a:r>
            <a:r>
              <a:rPr lang="en-US" sz="3200" b="1" dirty="0" smtClean="0"/>
              <a:t>G.SUDHEER KUMAR </a:t>
            </a:r>
            <a:endParaRPr lang="en-US" sz="3200" b="1" dirty="0"/>
          </a:p>
          <a:p>
            <a:pPr algn="ctr"/>
            <a:r>
              <a:rPr lang="en-US" sz="3200" b="1" dirty="0" smtClean="0"/>
              <a:t>AIML </a:t>
            </a:r>
          </a:p>
          <a:p>
            <a:pPr algn="ctr"/>
            <a:r>
              <a:rPr lang="en-US" sz="3200" b="1" dirty="0" smtClean="0"/>
              <a:t>Academic </a:t>
            </a:r>
            <a:r>
              <a:rPr lang="en-US" sz="3200" b="1" dirty="0"/>
              <a:t>Year</a:t>
            </a:r>
          </a:p>
          <a:p>
            <a:pPr algn="ctr"/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1907732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Bar dir="vert"/>
        <p:sndAc>
          <p:stSnd>
            <p:snd r:embed="rId2" name="applause.wav"/>
          </p:stSnd>
        </p:sndAc>
      </p:transition>
    </mc:Choice>
    <mc:Fallback xmlns="">
      <p:transition spd="slow">
        <p:randomBar dir="vert"/>
        <p:sndAc>
          <p:stSnd>
            <p:snd r:embed="rId3" name="applause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a </a:t>
            </a:r>
            <a:r>
              <a:rPr lang="en-US" b="1" dirty="0" smtClean="0"/>
              <a:t>Cloud </a:t>
            </a:r>
            <a:r>
              <a:rPr lang="en-US" b="1" dirty="0"/>
              <a:t>Deployment Model?</a:t>
            </a:r>
            <a:endParaRPr lang="en-IN" b="1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1155700" y="2372114"/>
            <a:ext cx="9485097" cy="387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deployment model shows how a cloud is set up.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tells who can use the cloud.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explains where data is stored.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helps organizations choose the right cloud. </a:t>
            </a:r>
          </a:p>
        </p:txBody>
      </p:sp>
    </p:spTree>
    <p:extLst>
      <p:ext uri="{BB962C8B-B14F-4D97-AF65-F5344CB8AC3E}">
        <p14:creationId xmlns:p14="http://schemas.microsoft.com/office/powerpoint/2010/main" val="3149142864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10105229" cy="706964"/>
          </a:xfrm>
        </p:spPr>
        <p:txBody>
          <a:bodyPr/>
          <a:lstStyle/>
          <a:p>
            <a:r>
              <a:rPr lang="en-US" b="1" dirty="0"/>
              <a:t>Why Do We Need </a:t>
            </a:r>
            <a:r>
              <a:rPr lang="en-US" b="1" dirty="0" smtClean="0"/>
              <a:t>Deployment Models</a:t>
            </a:r>
            <a:r>
              <a:rPr lang="en-US" b="1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5582" y="2325190"/>
            <a:ext cx="10235857" cy="4284616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400" b="1" dirty="0" smtClean="0"/>
              <a:t>To </a:t>
            </a:r>
            <a:r>
              <a:rPr lang="en-US" sz="2400" b="1" dirty="0"/>
              <a:t>keep data safe. </a:t>
            </a:r>
          </a:p>
          <a:p>
            <a:pPr>
              <a:lnSpc>
                <a:spcPct val="200000"/>
              </a:lnSpc>
            </a:pPr>
            <a:r>
              <a:rPr lang="en-US" sz="2400" b="1" dirty="0"/>
              <a:t>To reduce costs. </a:t>
            </a:r>
          </a:p>
          <a:p>
            <a:pPr>
              <a:lnSpc>
                <a:spcPct val="200000"/>
              </a:lnSpc>
            </a:pPr>
            <a:r>
              <a:rPr lang="en-US" sz="2400" b="1" dirty="0"/>
              <a:t>To improve performance. </a:t>
            </a:r>
          </a:p>
          <a:p>
            <a:pPr>
              <a:lnSpc>
                <a:spcPct val="200000"/>
              </a:lnSpc>
            </a:pPr>
            <a:r>
              <a:rPr lang="en-US" sz="2400" b="1" dirty="0"/>
              <a:t>To manage resources easily. </a:t>
            </a:r>
          </a:p>
          <a:p>
            <a:pPr>
              <a:lnSpc>
                <a:spcPct val="200000"/>
              </a:lnSpc>
            </a:pPr>
            <a:r>
              <a:rPr lang="en-US" sz="2400" b="1" dirty="0"/>
              <a:t>To meet business needs.</a:t>
            </a:r>
          </a:p>
          <a:p>
            <a:pPr>
              <a:lnSpc>
                <a:spcPct val="200000"/>
              </a:lnSpc>
            </a:pP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8866901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Cloud Deployment Models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499"/>
            <a:ext cx="10039915" cy="3810363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 smtClean="0"/>
              <a:t>Public </a:t>
            </a:r>
            <a:r>
              <a:rPr lang="en-US" sz="2400" b="1" dirty="0"/>
              <a:t>Cloud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/>
              <a:t>Private Cloud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/>
              <a:t>Community Cloud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/>
              <a:t>Hybrid Cloud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/>
              <a:t>Each model has unique advantages and limitations.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186038186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535371"/>
            <a:ext cx="8761413" cy="706964"/>
          </a:xfrm>
        </p:spPr>
        <p:txBody>
          <a:bodyPr/>
          <a:lstStyle/>
          <a:p>
            <a:r>
              <a:rPr lang="en-US" b="1" dirty="0"/>
              <a:t>Public Cloud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342243"/>
            <a:ext cx="8825659" cy="4136934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800" b="1" dirty="0" smtClean="0"/>
              <a:t>Public </a:t>
            </a:r>
            <a:r>
              <a:rPr lang="en-US" sz="2800" b="1" dirty="0"/>
              <a:t>cloud is available to everyone. </a:t>
            </a:r>
          </a:p>
          <a:p>
            <a:pPr>
              <a:lnSpc>
                <a:spcPct val="200000"/>
              </a:lnSpc>
            </a:pPr>
            <a:r>
              <a:rPr lang="en-US" sz="2800" b="1" dirty="0"/>
              <a:t>Services are provided through the Internet. </a:t>
            </a:r>
          </a:p>
          <a:p>
            <a:pPr>
              <a:lnSpc>
                <a:spcPct val="200000"/>
              </a:lnSpc>
            </a:pPr>
            <a:r>
              <a:rPr lang="en-US" sz="2800" b="1" dirty="0"/>
              <a:t>Many users share the same resources. </a:t>
            </a:r>
          </a:p>
          <a:p>
            <a:pPr>
              <a:lnSpc>
                <a:spcPct val="200000"/>
              </a:lnSpc>
            </a:pPr>
            <a:r>
              <a:rPr lang="en-US" sz="2800" b="1" dirty="0"/>
              <a:t>It is managed by a cloud provider.</a:t>
            </a:r>
          </a:p>
          <a:p>
            <a:pPr>
              <a:lnSpc>
                <a:spcPct val="200000"/>
              </a:lnSpc>
            </a:pP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30658701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Features of Public Cloud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2400" b="1" dirty="0" smtClean="0"/>
              <a:t>Easy </a:t>
            </a:r>
            <a:r>
              <a:rPr lang="en-US" sz="2400" b="1" dirty="0"/>
              <a:t>to use. 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2400" b="1" dirty="0"/>
              <a:t>Low cost. 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2400" b="1" dirty="0"/>
              <a:t>Accessible from anywhere. 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2400" b="1" dirty="0"/>
              <a:t>Resources can be increased quickly.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0729922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Advantages of Public Cloud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6394" y="2220687"/>
            <a:ext cx="8825659" cy="416705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to buy hardware.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maintenance cost.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start.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scalability.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small businesses.</a:t>
            </a:r>
          </a:p>
          <a:p>
            <a:pPr>
              <a:lnSpc>
                <a:spcPct val="150000"/>
              </a:lnSpc>
            </a:pP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649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Disadvantages of Public Cloud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 smtClean="0"/>
              <a:t>Less </a:t>
            </a:r>
            <a:r>
              <a:rPr lang="en-US" sz="2800" b="1" dirty="0"/>
              <a:t>control over data.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Security may be lower than private cloud.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Internet connection is required.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Shared resources may affect speed.</a:t>
            </a:r>
          </a:p>
          <a:p>
            <a:pPr>
              <a:lnSpc>
                <a:spcPct val="150000"/>
              </a:lnSpc>
            </a:pP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275230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Examples of Public Cloud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2800" b="1" dirty="0" smtClean="0"/>
              <a:t>Amazon </a:t>
            </a:r>
            <a:r>
              <a:rPr lang="en-IN" sz="2800" b="1" dirty="0"/>
              <a:t>Web Services (AWS) 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2800" b="1" dirty="0"/>
              <a:t>Microsoft Azure 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2800" b="1" dirty="0"/>
              <a:t>Google Cloud Platform (GCP)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248928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Private Cloud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400" b="1" dirty="0" smtClean="0"/>
              <a:t>Private </a:t>
            </a:r>
            <a:r>
              <a:rPr lang="en-US" sz="2400" b="1" dirty="0"/>
              <a:t>cloud is used by one organization only. </a:t>
            </a:r>
          </a:p>
          <a:p>
            <a:pPr>
              <a:lnSpc>
                <a:spcPct val="200000"/>
              </a:lnSpc>
            </a:pPr>
            <a:r>
              <a:rPr lang="en-US" sz="2400" b="1" dirty="0"/>
              <a:t>Resources are not shared with others. </a:t>
            </a:r>
          </a:p>
          <a:p>
            <a:pPr>
              <a:lnSpc>
                <a:spcPct val="200000"/>
              </a:lnSpc>
            </a:pPr>
            <a:r>
              <a:rPr lang="en-US" sz="2400" b="1" dirty="0"/>
              <a:t>It provides more security. </a:t>
            </a:r>
          </a:p>
          <a:p>
            <a:pPr>
              <a:lnSpc>
                <a:spcPct val="200000"/>
              </a:lnSpc>
            </a:pPr>
            <a:r>
              <a:rPr lang="en-US" sz="2400" b="1" dirty="0"/>
              <a:t>Suitable for large organizations.</a:t>
            </a:r>
          </a:p>
          <a:p>
            <a:pPr>
              <a:lnSpc>
                <a:spcPct val="200000"/>
              </a:lnSpc>
            </a:pP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1478909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Features of Private Cloud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499"/>
            <a:ext cx="8825659" cy="3849551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400" b="1" dirty="0" smtClean="0"/>
              <a:t>Dedicated </a:t>
            </a:r>
            <a:r>
              <a:rPr lang="en-US" sz="2400" b="1" dirty="0"/>
              <a:t>resources. </a:t>
            </a:r>
          </a:p>
          <a:p>
            <a:pPr>
              <a:lnSpc>
                <a:spcPct val="200000"/>
              </a:lnSpc>
            </a:pPr>
            <a:r>
              <a:rPr lang="en-US" sz="2400" b="1" dirty="0"/>
              <a:t>Better control. </a:t>
            </a:r>
          </a:p>
          <a:p>
            <a:pPr>
              <a:lnSpc>
                <a:spcPct val="200000"/>
              </a:lnSpc>
            </a:pPr>
            <a:r>
              <a:rPr lang="en-US" sz="2400" b="1" dirty="0"/>
              <a:t>More security. </a:t>
            </a:r>
          </a:p>
          <a:p>
            <a:pPr>
              <a:lnSpc>
                <a:spcPct val="200000"/>
              </a:lnSpc>
            </a:pPr>
            <a:r>
              <a:rPr lang="en-US" sz="2400" b="1" dirty="0"/>
              <a:t>Customizable environment.</a:t>
            </a:r>
          </a:p>
          <a:p>
            <a:pPr>
              <a:lnSpc>
                <a:spcPct val="200000"/>
              </a:lnSpc>
            </a:pP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1898213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Advantages of Private Cloud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312126"/>
            <a:ext cx="8825659" cy="399723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/>
              <a:t>High </a:t>
            </a:r>
            <a:r>
              <a:rPr lang="en-US" sz="2400" b="1" dirty="0"/>
              <a:t>security. 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Better privacy. 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Full control over resources. 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Good performance. 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Suitable for sensitive data.</a:t>
            </a:r>
          </a:p>
          <a:p>
            <a:pPr>
              <a:lnSpc>
                <a:spcPct val="150000"/>
              </a:lnSpc>
            </a:pP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811291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Disadvantages of Private Cloud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181497"/>
            <a:ext cx="8825659" cy="4415245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400" b="1" dirty="0" smtClean="0"/>
              <a:t>High </a:t>
            </a:r>
            <a:r>
              <a:rPr lang="en-US" sz="2400" b="1" dirty="0"/>
              <a:t>cost. </a:t>
            </a:r>
          </a:p>
          <a:p>
            <a:pPr>
              <a:lnSpc>
                <a:spcPct val="200000"/>
              </a:lnSpc>
            </a:pPr>
            <a:r>
              <a:rPr lang="en-US" sz="2400" b="1" dirty="0"/>
              <a:t>Requires maintenance. </a:t>
            </a:r>
          </a:p>
          <a:p>
            <a:pPr>
              <a:lnSpc>
                <a:spcPct val="200000"/>
              </a:lnSpc>
            </a:pPr>
            <a:r>
              <a:rPr lang="en-US" sz="2400" b="1" dirty="0"/>
              <a:t>Needs technical staff. </a:t>
            </a:r>
          </a:p>
          <a:p>
            <a:pPr>
              <a:lnSpc>
                <a:spcPct val="200000"/>
              </a:lnSpc>
            </a:pPr>
            <a:r>
              <a:rPr lang="en-US" sz="2400" b="1" dirty="0"/>
              <a:t>Setup takes more time.</a:t>
            </a:r>
          </a:p>
          <a:p>
            <a:pPr>
              <a:lnSpc>
                <a:spcPct val="200000"/>
              </a:lnSpc>
            </a:pP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808757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Uses of Private Cloud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/>
              <a:t>Banks </a:t>
            </a:r>
            <a:endParaRPr lang="en-US" sz="2400" b="1" dirty="0"/>
          </a:p>
          <a:p>
            <a:pPr>
              <a:lnSpc>
                <a:spcPct val="150000"/>
              </a:lnSpc>
            </a:pPr>
            <a:r>
              <a:rPr lang="en-US" sz="2400" b="1" dirty="0"/>
              <a:t>Government offices 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Hospitals 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Large companies</a:t>
            </a:r>
          </a:p>
          <a:p>
            <a:pPr>
              <a:lnSpc>
                <a:spcPct val="150000"/>
              </a:lnSpc>
            </a:pP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065105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Community Cloud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403567"/>
            <a:ext cx="8825659" cy="3670662"/>
          </a:xfrm>
        </p:spPr>
        <p:txBody>
          <a:bodyPr>
            <a:noAutofit/>
          </a:bodyPr>
          <a:lstStyle/>
          <a:p>
            <a:pPr>
              <a:lnSpc>
                <a:spcPct val="250000"/>
              </a:lnSpc>
            </a:pPr>
            <a:r>
              <a:rPr lang="en-US" sz="2000" b="1" dirty="0" smtClean="0"/>
              <a:t>Community </a:t>
            </a:r>
            <a:r>
              <a:rPr lang="en-US" sz="2000" b="1" dirty="0"/>
              <a:t>cloud is shared by similar organizations. </a:t>
            </a:r>
          </a:p>
          <a:p>
            <a:pPr>
              <a:lnSpc>
                <a:spcPct val="250000"/>
              </a:lnSpc>
            </a:pPr>
            <a:r>
              <a:rPr lang="en-US" sz="2000" b="1" dirty="0"/>
              <a:t>Organizations have common goals. </a:t>
            </a:r>
          </a:p>
          <a:p>
            <a:pPr>
              <a:lnSpc>
                <a:spcPct val="250000"/>
              </a:lnSpc>
            </a:pPr>
            <a:r>
              <a:rPr lang="en-US" sz="2000" b="1" dirty="0"/>
              <a:t>Resources are shared among members. </a:t>
            </a:r>
          </a:p>
          <a:p>
            <a:pPr>
              <a:lnSpc>
                <a:spcPct val="250000"/>
              </a:lnSpc>
            </a:pPr>
            <a:r>
              <a:rPr lang="en-US" sz="2000" b="1" dirty="0"/>
              <a:t>Cost is shared by all users.</a:t>
            </a:r>
          </a:p>
          <a:p>
            <a:pPr>
              <a:lnSpc>
                <a:spcPct val="250000"/>
              </a:lnSpc>
            </a:pP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214691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Features of Community Cloud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400" b="1" dirty="0" smtClean="0"/>
              <a:t>Shared </a:t>
            </a:r>
            <a:r>
              <a:rPr lang="en-US" sz="2400" b="1" dirty="0"/>
              <a:t>infrastructure. </a:t>
            </a:r>
          </a:p>
          <a:p>
            <a:pPr>
              <a:lnSpc>
                <a:spcPct val="200000"/>
              </a:lnSpc>
            </a:pPr>
            <a:r>
              <a:rPr lang="en-US" sz="2400" b="1" dirty="0"/>
              <a:t>Common security policies. </a:t>
            </a:r>
          </a:p>
          <a:p>
            <a:pPr>
              <a:lnSpc>
                <a:spcPct val="200000"/>
              </a:lnSpc>
            </a:pPr>
            <a:r>
              <a:rPr lang="en-US" sz="2400" b="1" dirty="0"/>
              <a:t>Shared expenses. </a:t>
            </a:r>
          </a:p>
          <a:p>
            <a:pPr>
              <a:lnSpc>
                <a:spcPct val="200000"/>
              </a:lnSpc>
            </a:pPr>
            <a:r>
              <a:rPr lang="en-US" sz="2400" b="1" dirty="0"/>
              <a:t>Better collaboration.</a:t>
            </a:r>
          </a:p>
          <a:p>
            <a:pPr>
              <a:lnSpc>
                <a:spcPct val="200000"/>
              </a:lnSpc>
            </a:pP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395068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Advantages of Community Cloud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499"/>
            <a:ext cx="8825659" cy="3718923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400" b="1" dirty="0" smtClean="0"/>
              <a:t>Cost </a:t>
            </a:r>
            <a:r>
              <a:rPr lang="en-US" sz="2400" b="1" dirty="0"/>
              <a:t>sharing. </a:t>
            </a:r>
          </a:p>
          <a:p>
            <a:pPr>
              <a:lnSpc>
                <a:spcPct val="200000"/>
              </a:lnSpc>
            </a:pPr>
            <a:r>
              <a:rPr lang="en-US" sz="2400" b="1" dirty="0"/>
              <a:t>Better security than public cloud. </a:t>
            </a:r>
          </a:p>
          <a:p>
            <a:pPr>
              <a:lnSpc>
                <a:spcPct val="200000"/>
              </a:lnSpc>
            </a:pPr>
            <a:r>
              <a:rPr lang="en-US" sz="2400" b="1" dirty="0"/>
              <a:t>Easy collaboration. </a:t>
            </a:r>
          </a:p>
          <a:p>
            <a:pPr>
              <a:lnSpc>
                <a:spcPct val="200000"/>
              </a:lnSpc>
            </a:pPr>
            <a:r>
              <a:rPr lang="en-US" sz="2400" b="1" dirty="0"/>
              <a:t>Suitable for organizations with similar needs.</a:t>
            </a:r>
          </a:p>
          <a:p>
            <a:pPr>
              <a:lnSpc>
                <a:spcPct val="200000"/>
              </a:lnSpc>
            </a:pP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972370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Disadvantages of Community Cloud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400" b="1" dirty="0" smtClean="0"/>
              <a:t>Less </a:t>
            </a:r>
            <a:r>
              <a:rPr lang="en-US" sz="2400" b="1" dirty="0"/>
              <a:t>control. </a:t>
            </a:r>
          </a:p>
          <a:p>
            <a:pPr>
              <a:lnSpc>
                <a:spcPct val="200000"/>
              </a:lnSpc>
            </a:pPr>
            <a:r>
              <a:rPr lang="en-US" sz="2400" b="1" dirty="0"/>
              <a:t>Management can be difficult. </a:t>
            </a:r>
          </a:p>
          <a:p>
            <a:pPr>
              <a:lnSpc>
                <a:spcPct val="200000"/>
              </a:lnSpc>
            </a:pPr>
            <a:r>
              <a:rPr lang="en-US" sz="2400" b="1" dirty="0"/>
              <a:t>Resource sharing issues. </a:t>
            </a:r>
          </a:p>
          <a:p>
            <a:pPr>
              <a:lnSpc>
                <a:spcPct val="200000"/>
              </a:lnSpc>
            </a:pPr>
            <a:r>
              <a:rPr lang="en-US" sz="2400" b="1" dirty="0"/>
              <a:t>Depends on cooperation among members.</a:t>
            </a:r>
          </a:p>
          <a:p>
            <a:pPr>
              <a:lnSpc>
                <a:spcPct val="200000"/>
              </a:lnSpc>
            </a:pP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4146640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Examples of Community Cloud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400" b="1" dirty="0" smtClean="0"/>
              <a:t>Universities </a:t>
            </a:r>
            <a:endParaRPr lang="en-US" sz="2400" b="1" dirty="0"/>
          </a:p>
          <a:p>
            <a:pPr>
              <a:lnSpc>
                <a:spcPct val="200000"/>
              </a:lnSpc>
            </a:pPr>
            <a:r>
              <a:rPr lang="en-US" sz="2400" b="1" dirty="0"/>
              <a:t>Research centers </a:t>
            </a:r>
          </a:p>
          <a:p>
            <a:pPr>
              <a:lnSpc>
                <a:spcPct val="200000"/>
              </a:lnSpc>
            </a:pPr>
            <a:r>
              <a:rPr lang="en-US" sz="2400" b="1" dirty="0"/>
              <a:t>Hospitals </a:t>
            </a:r>
          </a:p>
          <a:p>
            <a:pPr>
              <a:lnSpc>
                <a:spcPct val="200000"/>
              </a:lnSpc>
            </a:pPr>
            <a:r>
              <a:rPr lang="en-US" sz="2400" b="1" dirty="0"/>
              <a:t>Government departments</a:t>
            </a:r>
          </a:p>
          <a:p>
            <a:pPr>
              <a:lnSpc>
                <a:spcPct val="200000"/>
              </a:lnSpc>
            </a:pP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1468673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Hybrid Cloud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400" b="1" dirty="0" smtClean="0"/>
              <a:t>Hybrid </a:t>
            </a:r>
            <a:r>
              <a:rPr lang="en-US" sz="2400" b="1" dirty="0"/>
              <a:t>cloud combines public and private clouds. </a:t>
            </a:r>
          </a:p>
          <a:p>
            <a:pPr>
              <a:lnSpc>
                <a:spcPct val="200000"/>
              </a:lnSpc>
            </a:pPr>
            <a:r>
              <a:rPr lang="en-US" sz="2400" b="1" dirty="0"/>
              <a:t>Data can move between both clouds. </a:t>
            </a:r>
          </a:p>
          <a:p>
            <a:pPr>
              <a:lnSpc>
                <a:spcPct val="200000"/>
              </a:lnSpc>
            </a:pPr>
            <a:r>
              <a:rPr lang="en-US" sz="2400" b="1" dirty="0"/>
              <a:t>Organizations can use the benefits of both models. </a:t>
            </a:r>
          </a:p>
          <a:p>
            <a:pPr>
              <a:lnSpc>
                <a:spcPct val="200000"/>
              </a:lnSpc>
            </a:pPr>
            <a:r>
              <a:rPr lang="en-US" sz="2400" b="1" dirty="0"/>
              <a:t>Provides flexibility. </a:t>
            </a:r>
          </a:p>
          <a:p>
            <a:pPr>
              <a:lnSpc>
                <a:spcPct val="200000"/>
              </a:lnSpc>
            </a:pP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945934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Features of Hybrid Cloud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499"/>
            <a:ext cx="8825659" cy="3940991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800" b="1" dirty="0" smtClean="0"/>
              <a:t>Combination </a:t>
            </a:r>
            <a:r>
              <a:rPr lang="en-US" sz="2800" b="1" dirty="0"/>
              <a:t>of two clouds. </a:t>
            </a:r>
          </a:p>
          <a:p>
            <a:pPr>
              <a:lnSpc>
                <a:spcPct val="200000"/>
              </a:lnSpc>
            </a:pPr>
            <a:r>
              <a:rPr lang="en-US" sz="2800" b="1" dirty="0"/>
              <a:t>Better flexibility. </a:t>
            </a:r>
          </a:p>
          <a:p>
            <a:pPr>
              <a:lnSpc>
                <a:spcPct val="200000"/>
              </a:lnSpc>
            </a:pPr>
            <a:r>
              <a:rPr lang="en-US" sz="2800" b="1" dirty="0"/>
              <a:t>Easy resource management. </a:t>
            </a:r>
          </a:p>
          <a:p>
            <a:pPr>
              <a:lnSpc>
                <a:spcPct val="200000"/>
              </a:lnSpc>
            </a:pPr>
            <a:r>
              <a:rPr lang="en-US" sz="2800" b="1" dirty="0"/>
              <a:t>Improved backup support.</a:t>
            </a:r>
          </a:p>
          <a:p>
            <a:pPr>
              <a:lnSpc>
                <a:spcPct val="200000"/>
              </a:lnSpc>
            </a:pP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3997461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Advantages of Hybrid Cloud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250803"/>
            <a:ext cx="8825659" cy="3640546"/>
          </a:xfrm>
        </p:spPr>
        <p:txBody>
          <a:bodyPr>
            <a:noAutofit/>
          </a:bodyPr>
          <a:lstStyle/>
          <a:p>
            <a:pPr lvl="1">
              <a:lnSpc>
                <a:spcPct val="150000"/>
              </a:lnSpc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Better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security. </a:t>
            </a:r>
          </a:p>
          <a:p>
            <a:pPr lvl="1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flexibility. </a:t>
            </a:r>
          </a:p>
          <a:p>
            <a:pPr lvl="1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saving. </a:t>
            </a:r>
          </a:p>
          <a:p>
            <a:pPr lvl="1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expansion. </a:t>
            </a:r>
          </a:p>
          <a:p>
            <a:pPr lvl="1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disaster recovery.</a:t>
            </a:r>
          </a:p>
          <a:p>
            <a:pPr lvl="1">
              <a:lnSpc>
                <a:spcPct val="150000"/>
              </a:lnSpc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8123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Disadvantages of Hybrid Cloud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400" b="1" dirty="0" smtClean="0"/>
              <a:t>Complex </a:t>
            </a:r>
            <a:r>
              <a:rPr lang="en-US" sz="2400" b="1" dirty="0"/>
              <a:t>setup. </a:t>
            </a:r>
          </a:p>
          <a:p>
            <a:pPr>
              <a:lnSpc>
                <a:spcPct val="200000"/>
              </a:lnSpc>
            </a:pPr>
            <a:r>
              <a:rPr lang="en-US" sz="2400" b="1" dirty="0"/>
              <a:t>Requires skilled staff. </a:t>
            </a:r>
          </a:p>
          <a:p>
            <a:pPr>
              <a:lnSpc>
                <a:spcPct val="200000"/>
              </a:lnSpc>
            </a:pPr>
            <a:r>
              <a:rPr lang="en-US" sz="2400" b="1" dirty="0"/>
              <a:t>Management is difficult. </a:t>
            </a:r>
          </a:p>
          <a:p>
            <a:pPr>
              <a:lnSpc>
                <a:spcPct val="200000"/>
              </a:lnSpc>
            </a:pPr>
            <a:r>
              <a:rPr lang="en-US" sz="2400" b="1" dirty="0"/>
              <a:t>Security management can be challenging.</a:t>
            </a:r>
          </a:p>
          <a:p>
            <a:pPr>
              <a:lnSpc>
                <a:spcPct val="200000"/>
              </a:lnSpc>
            </a:pP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0399453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70</TotalTime>
  <Words>517</Words>
  <Application>Microsoft Office PowerPoint</Application>
  <PresentationFormat>Widescreen</PresentationFormat>
  <Paragraphs>120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Century Gothic</vt:lpstr>
      <vt:lpstr>Times New Roman</vt:lpstr>
      <vt:lpstr>Wingdings 3</vt:lpstr>
      <vt:lpstr>Ion Boardroom</vt:lpstr>
      <vt:lpstr>CLOUD DEPLOYMENT  MODELS</vt:lpstr>
      <vt:lpstr>PowerPoint Presentation</vt:lpstr>
      <vt:lpstr>What is a Cloud Deployment Model?</vt:lpstr>
      <vt:lpstr>Why Do We Need Deployment Models?</vt:lpstr>
      <vt:lpstr>Types of Cloud Deployment Models </vt:lpstr>
      <vt:lpstr>Public Cloud </vt:lpstr>
      <vt:lpstr>Features of Public Cloud </vt:lpstr>
      <vt:lpstr>Advantages of Public Cloud </vt:lpstr>
      <vt:lpstr>Disadvantages of Public Cloud </vt:lpstr>
      <vt:lpstr>Examples of Public Cloud </vt:lpstr>
      <vt:lpstr>Private Cloud </vt:lpstr>
      <vt:lpstr>Features of Private Cloud </vt:lpstr>
      <vt:lpstr>Advantages of Private Cloud </vt:lpstr>
      <vt:lpstr>Disadvantages of Private Cloud </vt:lpstr>
      <vt:lpstr>Uses of Private Cloud </vt:lpstr>
      <vt:lpstr>Community Cloud </vt:lpstr>
      <vt:lpstr>Features of Community Cloud </vt:lpstr>
      <vt:lpstr>Advantages of Community Cloud </vt:lpstr>
      <vt:lpstr>Disadvantages of Community Cloud </vt:lpstr>
      <vt:lpstr>Examples of Community Cloud </vt:lpstr>
      <vt:lpstr>Hybrid Cloud </vt:lpstr>
      <vt:lpstr>Features of Hybrid Cloud </vt:lpstr>
      <vt:lpstr>Advantages of Hybrid Cloud </vt:lpstr>
      <vt:lpstr>Disadvantages of Hybrid Cloud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DEPLOYMENT  MODELS</dc:title>
  <dc:creator>sudheer kumar</dc:creator>
  <cp:lastModifiedBy>sudheer kumar</cp:lastModifiedBy>
  <cp:revision>6</cp:revision>
  <dcterms:created xsi:type="dcterms:W3CDTF">2026-07-05T13:38:14Z</dcterms:created>
  <dcterms:modified xsi:type="dcterms:W3CDTF">2026-07-06T02:03:00Z</dcterms:modified>
</cp:coreProperties>
</file>