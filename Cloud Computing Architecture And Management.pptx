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64" r:id="rId12"/>
    <p:sldId id="265" r:id="rId13"/>
    <p:sldId id="266" r:id="rId14"/>
    <p:sldId id="267" r:id="rId15"/>
    <p:sldId id="268" r:id="rId16"/>
    <p:sldId id="271" r:id="rId17"/>
    <p:sldId id="272" r:id="rId18"/>
    <p:sldId id="273" r:id="rId19"/>
    <p:sldId id="275" r:id="rId20"/>
    <p:sldId id="276" r:id="rId21"/>
    <p:sldId id="27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686" y="2785960"/>
            <a:ext cx="10527609" cy="1373070"/>
          </a:xfrm>
        </p:spPr>
        <p:txBody>
          <a:bodyPr/>
          <a:lstStyle/>
          <a:p>
            <a:r>
              <a:rPr lang="en-US" dirty="0" smtClean="0"/>
              <a:t>Cloud Computing Architecture And </a:t>
            </a:r>
            <a:r>
              <a:rPr lang="en-US" dirty="0"/>
              <a:t>M</a:t>
            </a:r>
            <a:r>
              <a:rPr lang="en-US" dirty="0" smtClean="0"/>
              <a:t>anagement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822817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4824" y="1892736"/>
            <a:ext cx="9613861" cy="41945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Cloud Computing Architecture shows how cloud systems are built and </a:t>
            </a:r>
            <a:r>
              <a:rPr lang="en-US" sz="3200" dirty="0" smtClean="0"/>
              <a:t>work</a:t>
            </a:r>
          </a:p>
          <a:p>
            <a:pPr>
              <a:lnSpc>
                <a:spcPct val="150000"/>
              </a:lnSpc>
            </a:pPr>
            <a:endParaRPr lang="en-US" sz="3200" dirty="0" smtClean="0"/>
          </a:p>
          <a:p>
            <a:pPr>
              <a:lnSpc>
                <a:spcPct val="150000"/>
              </a:lnSpc>
            </a:pPr>
            <a:r>
              <a:rPr lang="en-US" sz="3200" dirty="0" smtClean="0"/>
              <a:t>It includes </a:t>
            </a:r>
            <a:r>
              <a:rPr lang="en-US" sz="3200" dirty="0"/>
              <a:t>all the parts that are needed to run cloud services smoothly.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803810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6446" y="2049490"/>
            <a:ext cx="9613861" cy="4194556"/>
          </a:xfrm>
        </p:spPr>
        <p:txBody>
          <a:bodyPr>
            <a:normAutofit lnSpcReduction="10000"/>
          </a:bodyPr>
          <a:lstStyle/>
          <a:p>
            <a:r>
              <a:rPr lang="en-US" sz="4000" dirty="0"/>
              <a:t>It is a mix of two concepts</a:t>
            </a:r>
            <a:r>
              <a:rPr lang="en-US" sz="4000" dirty="0" smtClean="0"/>
              <a:t>:</a:t>
            </a:r>
          </a:p>
          <a:p>
            <a:pPr>
              <a:lnSpc>
                <a:spcPct val="150000"/>
              </a:lnSpc>
            </a:pPr>
            <a:r>
              <a:rPr lang="en-US" sz="3200" dirty="0" smtClean="0"/>
              <a:t> </a:t>
            </a:r>
            <a:r>
              <a:rPr lang="en-US" sz="3200" dirty="0"/>
              <a:t>SOA (Service-Oriented Architecture) – focuses on </a:t>
            </a:r>
            <a:r>
              <a:rPr lang="en-US" sz="3200" dirty="0" smtClean="0"/>
              <a:t>     using different  services </a:t>
            </a:r>
            <a:r>
              <a:rPr lang="en-US" sz="3200" dirty="0"/>
              <a:t>to build applications</a:t>
            </a:r>
            <a:r>
              <a:rPr lang="en-US" sz="3200" dirty="0" smtClean="0"/>
              <a:t>.</a:t>
            </a:r>
          </a:p>
          <a:p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3200" dirty="0" smtClean="0"/>
              <a:t>EDA </a:t>
            </a:r>
            <a:r>
              <a:rPr lang="en-US" sz="3200" dirty="0"/>
              <a:t>(Event-Driven Architecture) – focuses on reacting to events </a:t>
            </a:r>
            <a:r>
              <a:rPr lang="en-US" sz="3200" dirty="0" smtClean="0"/>
              <a:t>or  changes </a:t>
            </a:r>
            <a:r>
              <a:rPr lang="en-US" sz="3200" dirty="0"/>
              <a:t>in the system.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299522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Components of Cloud Architecture: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5109" y="2050867"/>
            <a:ext cx="7910441" cy="444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905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4272933"/>
          </a:xfrm>
        </p:spPr>
        <p:txBody>
          <a:bodyPr>
            <a:normAutofit/>
          </a:bodyPr>
          <a:lstStyle/>
          <a:p>
            <a:r>
              <a:rPr lang="en-US" sz="3200" b="1" dirty="0"/>
              <a:t>Client Infrastructure </a:t>
            </a:r>
            <a:r>
              <a:rPr lang="en-US" sz="2800" dirty="0"/>
              <a:t>– </a:t>
            </a:r>
            <a:endParaRPr lang="en-US" sz="2800" dirty="0" smtClean="0"/>
          </a:p>
          <a:p>
            <a:r>
              <a:rPr lang="en-US" sz="2800" dirty="0" smtClean="0"/>
              <a:t>Devices </a:t>
            </a:r>
            <a:r>
              <a:rPr lang="en-US" sz="2800" dirty="0"/>
              <a:t>used to access the cloud  </a:t>
            </a:r>
            <a:r>
              <a:rPr lang="en-US" sz="2800" dirty="0" smtClean="0"/>
              <a:t>(</a:t>
            </a:r>
            <a:r>
              <a:rPr lang="en-US" sz="2800" dirty="0"/>
              <a:t>like </a:t>
            </a:r>
            <a:r>
              <a:rPr lang="en-US" sz="2800" dirty="0" smtClean="0"/>
              <a:t>laptops, phones).</a:t>
            </a:r>
          </a:p>
          <a:p>
            <a:endParaRPr lang="en-US" sz="2800" dirty="0" smtClean="0"/>
          </a:p>
          <a:p>
            <a:r>
              <a:rPr lang="en-US" sz="3600" b="1" dirty="0"/>
              <a:t>Application </a:t>
            </a:r>
            <a:r>
              <a:rPr lang="en-US" sz="2800" dirty="0" smtClean="0"/>
              <a:t>–</a:t>
            </a:r>
          </a:p>
          <a:p>
            <a:r>
              <a:rPr lang="en-US" sz="2800" dirty="0" smtClean="0"/>
              <a:t> A cloud application is software that runs on cloud infrastructure and can be accessed through the internet from any device </a:t>
            </a:r>
            <a:endParaRPr lang="en-US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02674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Service – </a:t>
            </a:r>
            <a:endParaRPr lang="en-IN" sz="3200" b="1" dirty="0" smtClean="0"/>
          </a:p>
          <a:p>
            <a:r>
              <a:rPr lang="en-US" sz="3200" b="1" dirty="0"/>
              <a:t>The functions or features provided (like storage, email</a:t>
            </a:r>
            <a:r>
              <a:rPr lang="en-US" sz="3200" b="1" dirty="0" smtClean="0"/>
              <a:t>).</a:t>
            </a:r>
          </a:p>
          <a:p>
            <a:endParaRPr lang="en-US" sz="3200" b="1" dirty="0"/>
          </a:p>
          <a:p>
            <a:r>
              <a:rPr lang="en-IN" sz="3200" b="1" dirty="0"/>
              <a:t>Runtime Cloud </a:t>
            </a:r>
            <a:r>
              <a:rPr lang="en-IN" sz="3200" b="1" dirty="0" smtClean="0"/>
              <a:t>–</a:t>
            </a:r>
          </a:p>
          <a:p>
            <a:r>
              <a:rPr lang="en-US" sz="3200" b="1" dirty="0"/>
              <a:t>The platform where services run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977549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Storage </a:t>
            </a:r>
            <a:r>
              <a:rPr lang="en-US" sz="3200" b="1" dirty="0" smtClean="0"/>
              <a:t>–</a:t>
            </a:r>
          </a:p>
          <a:p>
            <a:r>
              <a:rPr lang="en-US" sz="3200" b="1" dirty="0" smtClean="0"/>
              <a:t> </a:t>
            </a:r>
            <a:r>
              <a:rPr lang="en-US" sz="3200" b="1" dirty="0"/>
              <a:t>Where data is stored in the cloud</a:t>
            </a:r>
            <a:r>
              <a:rPr lang="en-US" sz="3200" b="1" dirty="0" smtClean="0"/>
              <a:t>.</a:t>
            </a:r>
          </a:p>
          <a:p>
            <a:endParaRPr lang="en-US" sz="3200" b="1" dirty="0"/>
          </a:p>
          <a:p>
            <a:r>
              <a:rPr lang="en-US" sz="3200" b="1" dirty="0"/>
              <a:t>Infrastructure – </a:t>
            </a:r>
            <a:endParaRPr lang="en-US" sz="3200" b="1" dirty="0" smtClean="0"/>
          </a:p>
          <a:p>
            <a:r>
              <a:rPr lang="en-US" sz="3200" b="1" dirty="0" smtClean="0"/>
              <a:t>The </a:t>
            </a:r>
            <a:r>
              <a:rPr lang="en-US" sz="3200" b="1" dirty="0"/>
              <a:t>physical hardware (servers, networks) used </a:t>
            </a:r>
            <a:r>
              <a:rPr lang="en-US" sz="3200" b="1" dirty="0" smtClean="0"/>
              <a:t>by cloud </a:t>
            </a:r>
            <a:r>
              <a:rPr lang="en-US" sz="3200" b="1" dirty="0"/>
              <a:t>providers.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688567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1206879" cy="3599316"/>
          </a:xfrm>
        </p:spPr>
        <p:txBody>
          <a:bodyPr>
            <a:normAutofit/>
          </a:bodyPr>
          <a:lstStyle/>
          <a:p>
            <a:r>
              <a:rPr lang="en-US" sz="4000" b="1" dirty="0"/>
              <a:t>Management – </a:t>
            </a:r>
            <a:endParaRPr lang="en-US" sz="4000" b="1" dirty="0" smtClean="0"/>
          </a:p>
          <a:p>
            <a:r>
              <a:rPr lang="en-US" sz="3200" b="1" dirty="0" smtClean="0"/>
              <a:t>Tools </a:t>
            </a:r>
            <a:r>
              <a:rPr lang="en-US" sz="3200" b="1" dirty="0"/>
              <a:t>to manage and monitor cloud systems</a:t>
            </a:r>
            <a:r>
              <a:rPr lang="en-US" sz="3200" b="1" dirty="0" smtClean="0"/>
              <a:t>.</a:t>
            </a:r>
          </a:p>
          <a:p>
            <a:endParaRPr lang="en-US" sz="3200" b="1" dirty="0"/>
          </a:p>
          <a:p>
            <a:r>
              <a:rPr lang="en-US" sz="3600" b="1" dirty="0"/>
              <a:t>Security </a:t>
            </a:r>
            <a:r>
              <a:rPr lang="en-US" sz="3600" b="1" dirty="0" smtClean="0"/>
              <a:t>–</a:t>
            </a:r>
          </a:p>
          <a:p>
            <a:r>
              <a:rPr lang="en-US" sz="3600" b="1" dirty="0" smtClean="0"/>
              <a:t> </a:t>
            </a:r>
            <a:r>
              <a:rPr lang="en-US" sz="3200" b="1" dirty="0"/>
              <a:t>Protects data and services </a:t>
            </a:r>
            <a:r>
              <a:rPr lang="en-US" sz="3200" b="1" dirty="0" smtClean="0"/>
              <a:t>from unauthorized </a:t>
            </a:r>
            <a:r>
              <a:rPr lang="en-US" sz="3200" b="1" dirty="0"/>
              <a:t>access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0148872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11128502" cy="3599316"/>
          </a:xfrm>
        </p:spPr>
        <p:txBody>
          <a:bodyPr>
            <a:normAutofit fontScale="92500" lnSpcReduction="20000"/>
          </a:bodyPr>
          <a:lstStyle/>
          <a:p>
            <a:r>
              <a:rPr lang="en-US" sz="3600" b="1" dirty="0"/>
              <a:t>Internet:</a:t>
            </a:r>
          </a:p>
          <a:p>
            <a:r>
              <a:rPr lang="en-US" sz="2800" dirty="0" smtClean="0"/>
              <a:t>Acts </a:t>
            </a:r>
            <a:r>
              <a:rPr lang="en-US" sz="2800" dirty="0"/>
              <a:t>as a bridge between frontend and backend </a:t>
            </a:r>
            <a:r>
              <a:rPr lang="en-US" sz="2800" dirty="0" smtClean="0"/>
              <a:t>for communication.</a:t>
            </a:r>
          </a:p>
          <a:p>
            <a:r>
              <a:rPr lang="en-US" sz="3500" b="1" dirty="0" smtClean="0"/>
              <a:t>Database</a:t>
            </a:r>
            <a:r>
              <a:rPr lang="en-US" sz="3500" b="1" dirty="0"/>
              <a:t>:</a:t>
            </a:r>
          </a:p>
          <a:p>
            <a:r>
              <a:rPr lang="en-US" sz="2800" dirty="0" smtClean="0"/>
              <a:t>Stores </a:t>
            </a:r>
            <a:r>
              <a:rPr lang="en-US" sz="2800" dirty="0"/>
              <a:t>structured data using cloud databases like</a:t>
            </a:r>
            <a:r>
              <a:rPr lang="en-US" sz="2800" dirty="0" smtClean="0"/>
              <a:t>:</a:t>
            </a:r>
          </a:p>
          <a:p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      Amazon RDS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      Azure SQL Database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 </a:t>
            </a:r>
            <a:r>
              <a:rPr lang="en-US" sz="2800" dirty="0" smtClean="0"/>
              <a:t>     Google </a:t>
            </a:r>
            <a:r>
              <a:rPr lang="en-US" sz="2800" dirty="0"/>
              <a:t>Cloud SQL</a:t>
            </a:r>
          </a:p>
          <a:p>
            <a:pPr marL="514350" indent="-514350">
              <a:buFont typeface="+mj-lt"/>
              <a:buAutoNum type="arabicPeriod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12659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050864"/>
          </a:xfrm>
        </p:spPr>
        <p:txBody>
          <a:bodyPr>
            <a:normAutofit/>
          </a:bodyPr>
          <a:lstStyle/>
          <a:p>
            <a:r>
              <a:rPr lang="en-US" sz="3200" b="1" dirty="0"/>
              <a:t>Networking</a:t>
            </a:r>
            <a:r>
              <a:rPr lang="en-US" sz="3200" b="1" dirty="0" smtClean="0"/>
              <a:t>:</a:t>
            </a:r>
          </a:p>
          <a:p>
            <a:pPr marL="0" indent="0">
              <a:buNone/>
            </a:pPr>
            <a:r>
              <a:rPr lang="en-US" sz="2800" dirty="0" smtClean="0"/>
              <a:t>  </a:t>
            </a:r>
            <a:r>
              <a:rPr lang="en-US" sz="2800" dirty="0"/>
              <a:t>Provides network services such as: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smtClean="0"/>
              <a:t>Load </a:t>
            </a:r>
            <a:r>
              <a:rPr lang="en-US" sz="2800" dirty="0"/>
              <a:t>balancing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smtClean="0"/>
              <a:t>DNS</a:t>
            </a:r>
            <a:endParaRPr lang="en-US" sz="28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smtClean="0"/>
              <a:t>Virtual </a:t>
            </a:r>
            <a:r>
              <a:rPr lang="en-US" sz="2800" dirty="0"/>
              <a:t>Private Networks (VPN)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76224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Main Parts of Cloud Architecture: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3933298"/>
          </a:xfrm>
        </p:spPr>
        <p:txBody>
          <a:bodyPr/>
          <a:lstStyle/>
          <a:p>
            <a:r>
              <a:rPr lang="en-US" sz="3200" b="1" dirty="0"/>
              <a:t>Frontend – </a:t>
            </a:r>
            <a:endParaRPr lang="en-US" sz="3200" b="1" dirty="0" smtClean="0"/>
          </a:p>
          <a:p>
            <a:r>
              <a:rPr lang="en-US" sz="2800" dirty="0" smtClean="0"/>
              <a:t>What the </a:t>
            </a:r>
            <a:r>
              <a:rPr lang="en-US" sz="2800" dirty="0"/>
              <a:t>user sees and interacts with (browser, app, etc</a:t>
            </a:r>
            <a:r>
              <a:rPr lang="en-US" sz="2800" dirty="0" smtClean="0"/>
              <a:t>.)</a:t>
            </a:r>
          </a:p>
          <a:p>
            <a:endParaRPr lang="en-US" dirty="0"/>
          </a:p>
          <a:p>
            <a:r>
              <a:rPr lang="en-US" sz="3200" b="1" dirty="0"/>
              <a:t>Backend – </a:t>
            </a:r>
            <a:endParaRPr lang="en-US" sz="3200" b="1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cloud system behind the scenes (servers, </a:t>
            </a:r>
            <a:r>
              <a:rPr lang="en-US" sz="2800" dirty="0" smtClean="0"/>
              <a:t>storage, databases</a:t>
            </a:r>
            <a:r>
              <a:rPr lang="en-US" sz="2800" dirty="0"/>
              <a:t>, etc.)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021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2"/>
            <a:ext cx="9613861" cy="3998613"/>
          </a:xfrm>
        </p:spPr>
        <p:txBody>
          <a:bodyPr>
            <a:normAutofit/>
          </a:bodyPr>
          <a:lstStyle/>
          <a:p>
            <a:r>
              <a:rPr lang="en-US" sz="3200" b="1" dirty="0"/>
              <a:t>Frontend (Client Side)</a:t>
            </a:r>
          </a:p>
          <a:p>
            <a:r>
              <a:rPr lang="en-US" sz="2800" dirty="0" smtClean="0"/>
              <a:t>Frontend </a:t>
            </a:r>
            <a:r>
              <a:rPr lang="en-US" sz="2800" dirty="0"/>
              <a:t>means the user side of cloud computing.</a:t>
            </a:r>
          </a:p>
          <a:p>
            <a:endParaRPr lang="en-US" sz="2800" dirty="0" smtClean="0"/>
          </a:p>
          <a:p>
            <a:r>
              <a:rPr lang="en-US" sz="2800" dirty="0" smtClean="0"/>
              <a:t>It </a:t>
            </a:r>
            <a:r>
              <a:rPr lang="en-US" sz="2800" dirty="0"/>
              <a:t>includes all the interfaces and applications the user uses to access </a:t>
            </a:r>
            <a:r>
              <a:rPr lang="en-US" sz="2800" dirty="0" smtClean="0"/>
              <a:t>the cloud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Example</a:t>
            </a:r>
            <a:r>
              <a:rPr lang="en-US" sz="2800" dirty="0"/>
              <a:t>: Using a web browser to open a cloud-based app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15949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3894110"/>
          </a:xfrm>
        </p:spPr>
        <p:txBody>
          <a:bodyPr>
            <a:normAutofit/>
          </a:bodyPr>
          <a:lstStyle/>
          <a:p>
            <a:r>
              <a:rPr lang="en-US" sz="3200" b="1" dirty="0"/>
              <a:t>Backend (Cloud </a:t>
            </a:r>
            <a:r>
              <a:rPr lang="en-US" sz="3200" b="1" dirty="0" smtClean="0"/>
              <a:t>Side)</a:t>
            </a:r>
          </a:p>
          <a:p>
            <a:r>
              <a:rPr lang="en-US" sz="2800" dirty="0" smtClean="0"/>
              <a:t>Backend </a:t>
            </a:r>
            <a:r>
              <a:rPr lang="en-US" sz="2800" dirty="0"/>
              <a:t>is the cloud system used by the service provider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It </a:t>
            </a:r>
            <a:r>
              <a:rPr lang="en-US" sz="2800" dirty="0"/>
              <a:t>handles storage, servers, virtual machines, security, and </a:t>
            </a:r>
            <a:r>
              <a:rPr lang="en-US" sz="2800" dirty="0" smtClean="0"/>
              <a:t>traffic control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Manages </a:t>
            </a:r>
            <a:r>
              <a:rPr lang="en-US" sz="2800" dirty="0"/>
              <a:t>services and resources in the cloud.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007578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Components of Cloud Architecture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076994"/>
            <a:ext cx="9613861" cy="4362995"/>
          </a:xfrm>
        </p:spPr>
        <p:txBody>
          <a:bodyPr>
            <a:noAutofit/>
          </a:bodyPr>
          <a:lstStyle/>
          <a:p>
            <a:r>
              <a:rPr lang="en-US" sz="3200" b="1" dirty="0"/>
              <a:t>Frontend </a:t>
            </a:r>
            <a:r>
              <a:rPr lang="en-US" sz="3200" b="1" dirty="0" smtClean="0"/>
              <a:t>Components</a:t>
            </a:r>
          </a:p>
          <a:p>
            <a:endParaRPr lang="en-US" sz="3200" b="1" dirty="0" smtClean="0"/>
          </a:p>
          <a:p>
            <a:r>
              <a:rPr lang="en-US" sz="3200" b="1" dirty="0" smtClean="0"/>
              <a:t>Client </a:t>
            </a:r>
            <a:r>
              <a:rPr lang="en-US" sz="3200" b="1" dirty="0"/>
              <a:t>Infrastructure</a:t>
            </a:r>
            <a:r>
              <a:rPr lang="en-US" sz="3200" b="1" dirty="0" smtClean="0"/>
              <a:t>:</a:t>
            </a:r>
          </a:p>
          <a:p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user’s device, browser, or app</a:t>
            </a:r>
            <a:r>
              <a:rPr lang="en-US" sz="2800" dirty="0" smtClean="0"/>
              <a:t>.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 smtClean="0"/>
              <a:t>Provides </a:t>
            </a:r>
            <a:r>
              <a:rPr lang="en-US" sz="2800" dirty="0"/>
              <a:t>a GUI (Graphical User Interface) to interact with </a:t>
            </a:r>
            <a:r>
              <a:rPr lang="en-US" sz="2800" dirty="0" smtClean="0"/>
              <a:t>the  cloud</a:t>
            </a:r>
            <a:r>
              <a:rPr lang="en-US" sz="2800" dirty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6759978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Backend Components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076994"/>
            <a:ext cx="9613861" cy="4545875"/>
          </a:xfrm>
        </p:spPr>
        <p:txBody>
          <a:bodyPr>
            <a:normAutofit/>
          </a:bodyPr>
          <a:lstStyle/>
          <a:p>
            <a:r>
              <a:rPr lang="en-IN" sz="3000" b="1" dirty="0" smtClean="0"/>
              <a:t>Application</a:t>
            </a:r>
            <a:r>
              <a:rPr lang="en-IN" sz="3000" b="1" dirty="0"/>
              <a:t>:</a:t>
            </a:r>
          </a:p>
          <a:p>
            <a:r>
              <a:rPr lang="en-IN" dirty="0" smtClean="0"/>
              <a:t>Software </a:t>
            </a:r>
            <a:r>
              <a:rPr lang="en-IN" dirty="0"/>
              <a:t>in the backend that the user wants to access (e.g., </a:t>
            </a:r>
            <a:r>
              <a:rPr lang="en-IN" dirty="0" smtClean="0"/>
              <a:t>Google Docs</a:t>
            </a:r>
            <a:r>
              <a:rPr lang="en-IN" dirty="0"/>
              <a:t>).</a:t>
            </a:r>
          </a:p>
          <a:p>
            <a:endParaRPr lang="en-IN" sz="3000" b="1" dirty="0" smtClean="0"/>
          </a:p>
          <a:p>
            <a:r>
              <a:rPr lang="en-IN" sz="3000" b="1" dirty="0" smtClean="0"/>
              <a:t>Service:</a:t>
            </a:r>
            <a:endParaRPr lang="en-IN" sz="3000" b="1" dirty="0"/>
          </a:p>
          <a:p>
            <a:r>
              <a:rPr lang="en-IN" dirty="0" smtClean="0"/>
              <a:t>Manages </a:t>
            </a:r>
            <a:r>
              <a:rPr lang="en-IN" dirty="0"/>
              <a:t>the 3 cloud service models:</a:t>
            </a:r>
          </a:p>
          <a:p>
            <a:r>
              <a:rPr lang="en-IN" dirty="0" smtClean="0"/>
              <a:t>SaaS </a:t>
            </a:r>
            <a:r>
              <a:rPr lang="en-IN" dirty="0"/>
              <a:t>– Software as a Service</a:t>
            </a:r>
          </a:p>
          <a:p>
            <a:r>
              <a:rPr lang="en-IN" dirty="0" smtClean="0"/>
              <a:t>PaaS </a:t>
            </a:r>
            <a:r>
              <a:rPr lang="en-IN" dirty="0"/>
              <a:t>– Platform as a Service</a:t>
            </a:r>
          </a:p>
          <a:p>
            <a:r>
              <a:rPr lang="en-IN" dirty="0" smtClean="0"/>
              <a:t>IaaS </a:t>
            </a:r>
            <a:r>
              <a:rPr lang="en-IN" dirty="0"/>
              <a:t>– Infrastructure as a Service</a:t>
            </a:r>
          </a:p>
        </p:txBody>
      </p:sp>
    </p:spTree>
    <p:extLst>
      <p:ext uri="{BB962C8B-B14F-4D97-AF65-F5344CB8AC3E}">
        <p14:creationId xmlns:p14="http://schemas.microsoft.com/office/powerpoint/2010/main" val="186593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Analytics</a:t>
            </a:r>
            <a:r>
              <a:rPr lang="en-US" sz="2800" b="1" dirty="0" smtClean="0"/>
              <a:t>:</a:t>
            </a:r>
          </a:p>
          <a:p>
            <a:r>
              <a:rPr lang="en-US" dirty="0" smtClean="0"/>
              <a:t> </a:t>
            </a:r>
            <a:r>
              <a:rPr lang="en-US" dirty="0"/>
              <a:t>Helps analyze data using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smtClean="0"/>
              <a:t>    Data </a:t>
            </a:r>
            <a:r>
              <a:rPr lang="en-US" dirty="0"/>
              <a:t>warehousing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     Business </a:t>
            </a:r>
            <a:r>
              <a:rPr lang="en-US" dirty="0"/>
              <a:t>Intelligence (BI)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     Machine </a:t>
            </a:r>
            <a:r>
              <a:rPr lang="en-US" dirty="0"/>
              <a:t>Learning (ML)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1209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Cloud Architecture in Real Life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4325184"/>
          </a:xfrm>
        </p:spPr>
        <p:txBody>
          <a:bodyPr>
            <a:normAutofit lnSpcReduction="10000"/>
          </a:bodyPr>
          <a:lstStyle/>
          <a:p>
            <a:r>
              <a:rPr lang="en-US" sz="3000" b="1" dirty="0"/>
              <a:t>Online Store – Amazon/Flipkart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/>
              <a:t>Users shop online using frontend (app or website</a:t>
            </a:r>
            <a:r>
              <a:rPr lang="en-US" dirty="0" smtClean="0"/>
              <a:t>).</a:t>
            </a:r>
          </a:p>
          <a:p>
            <a:r>
              <a:rPr lang="en-US" dirty="0" smtClean="0"/>
              <a:t>• </a:t>
            </a:r>
            <a:r>
              <a:rPr lang="en-US" sz="3000" b="1" dirty="0"/>
              <a:t>Cloud handles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   Shopping cart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   Payments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smtClean="0"/>
              <a:t>  Inventory </a:t>
            </a:r>
            <a:r>
              <a:rPr lang="en-US" dirty="0"/>
              <a:t>updates</a:t>
            </a:r>
          </a:p>
          <a:p>
            <a:endParaRPr lang="en-US" dirty="0" smtClean="0"/>
          </a:p>
          <a:p>
            <a:r>
              <a:rPr lang="en-US" dirty="0" smtClean="0"/>
              <a:t> Backend </a:t>
            </a:r>
            <a:r>
              <a:rPr lang="en-US" dirty="0"/>
              <a:t>runs on AWS Elastic Beanstalk, stores photos in Amazon S3.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9538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App – Food Delivery (</a:t>
            </a:r>
            <a:r>
              <a:rPr lang="en-US" dirty="0" err="1"/>
              <a:t>Zomato</a:t>
            </a:r>
            <a:r>
              <a:rPr lang="en-US" dirty="0"/>
              <a:t>/</a:t>
            </a:r>
            <a:r>
              <a:rPr lang="en-US" dirty="0" err="1"/>
              <a:t>Swiggy</a:t>
            </a:r>
            <a:r>
              <a:rPr lang="en-US" dirty="0"/>
              <a:t>)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090057"/>
            <a:ext cx="9613861" cy="4480560"/>
          </a:xfrm>
        </p:spPr>
        <p:txBody>
          <a:bodyPr>
            <a:normAutofit/>
          </a:bodyPr>
          <a:lstStyle/>
          <a:p>
            <a:r>
              <a:rPr lang="en-US" dirty="0" smtClean="0"/>
              <a:t>• </a:t>
            </a:r>
            <a:r>
              <a:rPr lang="en-US" dirty="0"/>
              <a:t>App interface is frontend (ordering food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r>
              <a:rPr lang="en-US" dirty="0"/>
              <a:t>• Cloud backend manages</a:t>
            </a:r>
            <a:r>
              <a:rPr lang="en-US" dirty="0" smtClean="0"/>
              <a:t>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dirty="0"/>
              <a:t>Order tracking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dirty="0"/>
              <a:t>Restaurant notifications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 Payments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  Uses </a:t>
            </a:r>
            <a:r>
              <a:rPr lang="en-US" dirty="0"/>
              <a:t>Firebase and Google Cloud/AWS to store data and run servers.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3797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Cloud Computing 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1.Makes </a:t>
            </a:r>
            <a:r>
              <a:rPr lang="en-US" dirty="0"/>
              <a:t>cloud systems simple and easy to use</a:t>
            </a:r>
          </a:p>
          <a:p>
            <a:pPr>
              <a:lnSpc>
                <a:spcPct val="150000"/>
              </a:lnSpc>
            </a:pPr>
            <a:r>
              <a:rPr lang="en-US" dirty="0"/>
              <a:t>2. Helps in fast data processing</a:t>
            </a:r>
          </a:p>
          <a:p>
            <a:pPr>
              <a:lnSpc>
                <a:spcPct val="150000"/>
              </a:lnSpc>
            </a:pPr>
            <a:r>
              <a:rPr lang="en-US" dirty="0"/>
              <a:t>3. Provides strong security</a:t>
            </a:r>
          </a:p>
          <a:p>
            <a:pPr>
              <a:lnSpc>
                <a:spcPct val="150000"/>
              </a:lnSpc>
            </a:pPr>
            <a:r>
              <a:rPr lang="en-US" dirty="0"/>
              <a:t>4. Makes the system modular (easy to manage and update</a:t>
            </a:r>
            <a:r>
              <a:rPr lang="en-US" dirty="0" smtClean="0"/>
              <a:t>)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7512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024743"/>
            <a:ext cx="9613861" cy="462425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5. Better </a:t>
            </a:r>
            <a:r>
              <a:rPr lang="en-US" dirty="0"/>
              <a:t>disaster recovery during failures</a:t>
            </a:r>
          </a:p>
          <a:p>
            <a:pPr>
              <a:lnSpc>
                <a:spcPct val="150000"/>
              </a:lnSpc>
            </a:pPr>
            <a:r>
              <a:rPr lang="en-US" dirty="0"/>
              <a:t>6. Gives easy access to users from anywhere</a:t>
            </a:r>
          </a:p>
          <a:p>
            <a:pPr>
              <a:lnSpc>
                <a:spcPct val="150000"/>
              </a:lnSpc>
            </a:pPr>
            <a:r>
              <a:rPr lang="en-US" dirty="0"/>
              <a:t>7. Reduces IT costs</a:t>
            </a:r>
          </a:p>
          <a:p>
            <a:pPr>
              <a:lnSpc>
                <a:spcPct val="150000"/>
              </a:lnSpc>
            </a:pPr>
            <a:r>
              <a:rPr lang="en-US" dirty="0"/>
              <a:t>8. Offers high reliability</a:t>
            </a:r>
          </a:p>
          <a:p>
            <a:pPr>
              <a:lnSpc>
                <a:spcPct val="150000"/>
              </a:lnSpc>
            </a:pPr>
            <a:r>
              <a:rPr lang="en-US" dirty="0"/>
              <a:t>9. Supports scalability (easy to grow when needed)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95596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/>
              <a:t>T</a:t>
            </a:r>
            <a:r>
              <a:rPr lang="en-US" sz="9600" dirty="0" smtClean="0"/>
              <a:t>HANK YOU 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30412246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103</TotalTime>
  <Words>623</Words>
  <Application>Microsoft Office PowerPoint</Application>
  <PresentationFormat>Widescreen</PresentationFormat>
  <Paragraphs>112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Trebuchet MS</vt:lpstr>
      <vt:lpstr>Berlin</vt:lpstr>
      <vt:lpstr>Cloud Computing Architecture And Management </vt:lpstr>
      <vt:lpstr>PowerPoint Presentation</vt:lpstr>
      <vt:lpstr>PowerPoint Presentation</vt:lpstr>
      <vt:lpstr>Main Components of Cloud Architecture: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Two Main Parts of Cloud Architecture:</vt:lpstr>
      <vt:lpstr>PowerPoint Presentation</vt:lpstr>
      <vt:lpstr>PowerPoint Presentation</vt:lpstr>
      <vt:lpstr>Components of Cloud Architecture </vt:lpstr>
      <vt:lpstr>Backend Components </vt:lpstr>
      <vt:lpstr>PowerPoint Presentation</vt:lpstr>
      <vt:lpstr>Examples of Cloud Architecture in Real Life</vt:lpstr>
      <vt:lpstr>Mobile App – Food Delivery (Zomato/Swiggy) </vt:lpstr>
      <vt:lpstr>Benefits of Cloud Computing Architecture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 Architecture and management</dc:title>
  <dc:creator>sudheer kumar</dc:creator>
  <cp:lastModifiedBy>sudheer kumar</cp:lastModifiedBy>
  <cp:revision>8</cp:revision>
  <dcterms:created xsi:type="dcterms:W3CDTF">2026-06-30T12:36:56Z</dcterms:created>
  <dcterms:modified xsi:type="dcterms:W3CDTF">2026-06-30T14:20:56Z</dcterms:modified>
</cp:coreProperties>
</file>