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77" r:id="rId10"/>
    <p:sldId id="264" r:id="rId11"/>
    <p:sldId id="276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75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980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51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815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63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37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18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41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643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3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536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6519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383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291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115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323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0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99C41AB-E412-4DC2-9C15-7C7CF906088A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2A5F7-B591-4692-B23B-79EBC4580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6068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microsoft-365?utm_source=chatgpt.com" TargetMode="External"/><Relationship Id="rId2" Type="http://schemas.openxmlformats.org/officeDocument/2006/relationships/hyperlink" Target="https://workspace.google.com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alesforce.com/?utm_source=chatgpt.com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394" y="2272937"/>
            <a:ext cx="10000725" cy="976090"/>
          </a:xfrm>
        </p:spPr>
        <p:txBody>
          <a:bodyPr/>
          <a:lstStyle/>
          <a:p>
            <a:pPr algn="ctr"/>
            <a:r>
              <a:rPr lang="en-IN" dirty="0" smtClean="0"/>
              <a:t>Cloud Service 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851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Cloud Computing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Cloud computing provides computing resources over the Internet. 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/>
              <a:t>Users can access services anytime and anywhere. </a:t>
            </a:r>
          </a:p>
          <a:p>
            <a:endParaRPr lang="en-US" sz="2800" dirty="0" smtClean="0"/>
          </a:p>
          <a:p>
            <a:r>
              <a:rPr lang="en-US" sz="2800" dirty="0" smtClean="0"/>
              <a:t>Reduces </a:t>
            </a:r>
            <a:r>
              <a:rPr lang="en-US" sz="2800" dirty="0"/>
              <a:t>hardware and maintenance costs.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5389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are Cloud Service Models?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Service </a:t>
            </a:r>
            <a:r>
              <a:rPr lang="en-US" sz="2800" dirty="0"/>
              <a:t>models define how cloud services are delivered. </a:t>
            </a:r>
          </a:p>
          <a:p>
            <a:endParaRPr lang="en-US" sz="2800" dirty="0" smtClean="0"/>
          </a:p>
          <a:p>
            <a:r>
              <a:rPr lang="en-US" sz="2800" dirty="0" smtClean="0"/>
              <a:t>Different </a:t>
            </a:r>
            <a:r>
              <a:rPr lang="en-US" sz="2800" dirty="0"/>
              <a:t>levels of management and control. </a:t>
            </a:r>
          </a:p>
          <a:p>
            <a:r>
              <a:rPr lang="en-US" sz="2800" dirty="0"/>
              <a:t>Main models: </a:t>
            </a:r>
          </a:p>
          <a:p>
            <a:pPr lvl="1"/>
            <a:r>
              <a:rPr lang="en-US" sz="2400" dirty="0"/>
              <a:t>IaaS </a:t>
            </a:r>
          </a:p>
          <a:p>
            <a:pPr lvl="1"/>
            <a:r>
              <a:rPr lang="en-US" sz="2400" dirty="0"/>
              <a:t>PaaS </a:t>
            </a:r>
          </a:p>
          <a:p>
            <a:pPr lvl="1"/>
            <a:r>
              <a:rPr lang="en-US" sz="2400" dirty="0"/>
              <a:t>SaaS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7124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Need for Cloud Service Models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Cost </a:t>
            </a:r>
            <a:r>
              <a:rPr lang="en-US" sz="2800" dirty="0"/>
              <a:t>reduction 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/>
              <a:t>Easy scalability 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/>
              <a:t>Faster deployment 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/>
              <a:t>Better resource utilization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4284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Cloud Service Models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Infrastructure </a:t>
            </a:r>
            <a:r>
              <a:rPr lang="en-US" sz="3200" dirty="0"/>
              <a:t>as a Service (IaaS) </a:t>
            </a:r>
            <a:endParaRPr lang="en-US" sz="3200" dirty="0" smtClean="0"/>
          </a:p>
          <a:p>
            <a:endParaRPr lang="en-US" sz="3200" dirty="0"/>
          </a:p>
          <a:p>
            <a:r>
              <a:rPr lang="en-US" sz="3200" dirty="0"/>
              <a:t>Platform as a Service (PaaS) </a:t>
            </a:r>
          </a:p>
          <a:p>
            <a:endParaRPr lang="en-US" sz="3200" dirty="0" smtClean="0"/>
          </a:p>
          <a:p>
            <a:r>
              <a:rPr lang="en-US" sz="3200" dirty="0" smtClean="0"/>
              <a:t>Software </a:t>
            </a:r>
            <a:r>
              <a:rPr lang="en-US" sz="3200" dirty="0"/>
              <a:t>as a Service (SaaS)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168995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Infrastructure as a Service (IaaS)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 smtClean="0"/>
              <a:t>Provides </a:t>
            </a:r>
            <a:r>
              <a:rPr lang="en-US" sz="2800" dirty="0"/>
              <a:t>virtualized computing resources.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Users manage operating systems and applications.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Cloud provider manages hardware.</a:t>
            </a:r>
          </a:p>
          <a:p>
            <a:pPr>
              <a:lnSpc>
                <a:spcPct val="20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468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Cloud Service Model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3200" dirty="0" smtClean="0"/>
              <a:t>User </a:t>
            </a:r>
            <a:r>
              <a:rPr lang="en-IN" sz="3200" dirty="0"/>
              <a:t>Layer </a:t>
            </a:r>
            <a:endParaRPr lang="en-IN" sz="3200" dirty="0" smtClean="0"/>
          </a:p>
          <a:p>
            <a:endParaRPr lang="en-IN" sz="3200" dirty="0"/>
          </a:p>
          <a:p>
            <a:r>
              <a:rPr lang="en-IN" sz="3200" dirty="0"/>
              <a:t>SaaS Layer </a:t>
            </a:r>
          </a:p>
          <a:p>
            <a:endParaRPr lang="en-IN" sz="3200" dirty="0" smtClean="0"/>
          </a:p>
          <a:p>
            <a:r>
              <a:rPr lang="en-IN" sz="3200" dirty="0" smtClean="0"/>
              <a:t>PaaS </a:t>
            </a:r>
            <a:r>
              <a:rPr lang="en-IN" sz="3200" dirty="0"/>
              <a:t>Layer </a:t>
            </a:r>
          </a:p>
          <a:p>
            <a:endParaRPr lang="en-IN" sz="3200" dirty="0" smtClean="0"/>
          </a:p>
          <a:p>
            <a:r>
              <a:rPr lang="en-IN" sz="3200" dirty="0" smtClean="0"/>
              <a:t>IaaS </a:t>
            </a:r>
            <a:r>
              <a:rPr lang="en-IN" sz="3200" dirty="0"/>
              <a:t>Layer </a:t>
            </a:r>
          </a:p>
          <a:p>
            <a:endParaRPr lang="en-IN" sz="3200" dirty="0" smtClean="0"/>
          </a:p>
          <a:p>
            <a:r>
              <a:rPr lang="en-IN" sz="3200" dirty="0" smtClean="0"/>
              <a:t>Physical </a:t>
            </a:r>
            <a:r>
              <a:rPr lang="en-IN" sz="3200" dirty="0"/>
              <a:t>Infrastructure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5641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IaaS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 smtClean="0"/>
              <a:t>Pay-as-you-use </a:t>
            </a:r>
            <a:r>
              <a:rPr lang="en-US" sz="3200" dirty="0"/>
              <a:t>pricing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Flexible resource allocation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Easy disaster recovery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Reduced hardware investment</a:t>
            </a:r>
          </a:p>
          <a:p>
            <a:pPr>
              <a:lnSpc>
                <a:spcPct val="150000"/>
              </a:lnSpc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00026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oud Computing Service Models: SaaS, PaaS, IaaS Explain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476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333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 of IaaS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200" dirty="0" smtClean="0"/>
              <a:t>Security </a:t>
            </a:r>
            <a:r>
              <a:rPr lang="en-US" sz="3200" dirty="0"/>
              <a:t>responsibilities for users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Requires technical knowledge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Configuration complexity</a:t>
            </a:r>
          </a:p>
          <a:p>
            <a:pPr>
              <a:lnSpc>
                <a:spcPct val="200000"/>
              </a:lnSpc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58493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 of IaaS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 smtClean="0"/>
              <a:t>Virtual </a:t>
            </a:r>
            <a:r>
              <a:rPr lang="en-US" sz="3600" dirty="0"/>
              <a:t>machines 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Storage services 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Networking services 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High scalability</a:t>
            </a:r>
          </a:p>
          <a:p>
            <a:pPr>
              <a:lnSpc>
                <a:spcPct val="150000"/>
              </a:lnSpc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89514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IaaS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200" dirty="0" smtClean="0"/>
              <a:t>Amazon </a:t>
            </a:r>
            <a:r>
              <a:rPr lang="en-US" sz="3200" dirty="0"/>
              <a:t>Web Services EC2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Microsoft Azure Virtual Machines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Google Cloud Compute Engine</a:t>
            </a:r>
          </a:p>
          <a:p>
            <a:pPr>
              <a:lnSpc>
                <a:spcPct val="200000"/>
              </a:lnSpc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95818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Platform as a Service (PaaS)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 smtClean="0"/>
              <a:t>Provides </a:t>
            </a:r>
            <a:r>
              <a:rPr lang="en-US" sz="2800" dirty="0"/>
              <a:t>development and deployment platforms.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Developers focus on coding.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Provider manages infrastructure.</a:t>
            </a:r>
          </a:p>
          <a:p>
            <a:pPr>
              <a:lnSpc>
                <a:spcPct val="20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5564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PaaS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0615" y="1582655"/>
            <a:ext cx="8946541" cy="4195481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sz="3200" dirty="0" smtClean="0"/>
              <a:t>Faster </a:t>
            </a:r>
            <a:r>
              <a:rPr lang="en-US" sz="3200" dirty="0"/>
              <a:t>application development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Reduced coding effort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Easy collaboration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Automatic updates</a:t>
            </a:r>
          </a:p>
          <a:p>
            <a:pPr>
              <a:lnSpc>
                <a:spcPct val="200000"/>
              </a:lnSpc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06486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Disadvantages of PaaS</a:t>
            </a:r>
            <a:br>
              <a:rPr lang="en-US" sz="4400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200" dirty="0" smtClean="0"/>
              <a:t>Vendor </a:t>
            </a:r>
            <a:r>
              <a:rPr lang="en-US" sz="3200" dirty="0"/>
              <a:t>dependency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Limited customization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Security concerns</a:t>
            </a:r>
          </a:p>
          <a:p>
            <a:pPr>
              <a:lnSpc>
                <a:spcPct val="200000"/>
              </a:lnSpc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33106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as a Service (SaaS)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 smtClean="0"/>
              <a:t>Software </a:t>
            </a:r>
            <a:r>
              <a:rPr lang="en-US" sz="2800" dirty="0"/>
              <a:t>delivered through the Internet.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No installation required.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Access through web browsers.</a:t>
            </a:r>
          </a:p>
          <a:p>
            <a:pPr>
              <a:lnSpc>
                <a:spcPct val="20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051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 of SaaS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1661032"/>
            <a:ext cx="8946541" cy="4195481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sz="3200" dirty="0" smtClean="0"/>
              <a:t>Subscription-based </a:t>
            </a:r>
            <a:r>
              <a:rPr lang="en-US" sz="3200" dirty="0"/>
              <a:t>access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Automatic updates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Multi-user support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Anywhere accessibility</a:t>
            </a:r>
          </a:p>
          <a:p>
            <a:pPr>
              <a:lnSpc>
                <a:spcPct val="200000"/>
              </a:lnSpc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825221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SaaS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0615" y="1491215"/>
            <a:ext cx="8946541" cy="4195481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sz="3200" dirty="0" smtClean="0"/>
              <a:t>Easy </a:t>
            </a:r>
            <a:r>
              <a:rPr lang="en-US" sz="3200" dirty="0"/>
              <a:t>to use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Low cost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No maintenance 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Quick deployment</a:t>
            </a:r>
          </a:p>
          <a:p>
            <a:pPr>
              <a:lnSpc>
                <a:spcPct val="200000"/>
              </a:lnSpc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7151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 of SaaS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200000"/>
              </a:lnSpc>
            </a:pPr>
            <a:r>
              <a:rPr lang="en-US" sz="3400" dirty="0" smtClean="0"/>
              <a:t>Internet </a:t>
            </a:r>
            <a:r>
              <a:rPr lang="en-US" sz="3400" dirty="0"/>
              <a:t>dependency </a:t>
            </a:r>
          </a:p>
          <a:p>
            <a:pPr lvl="1">
              <a:lnSpc>
                <a:spcPct val="200000"/>
              </a:lnSpc>
            </a:pPr>
            <a:r>
              <a:rPr lang="en-US" sz="3400" dirty="0"/>
              <a:t>Data privacy concerns </a:t>
            </a:r>
          </a:p>
          <a:p>
            <a:pPr lvl="1">
              <a:lnSpc>
                <a:spcPct val="200000"/>
              </a:lnSpc>
            </a:pPr>
            <a:r>
              <a:rPr lang="en-US" sz="3400" dirty="0"/>
              <a:t>Limited customization</a:t>
            </a:r>
          </a:p>
          <a:p>
            <a:pPr lvl="1">
              <a:lnSpc>
                <a:spcPct val="200000"/>
              </a:lnSpc>
            </a:pPr>
            <a:endParaRPr lang="en-IN" sz="3400" dirty="0"/>
          </a:p>
        </p:txBody>
      </p:sp>
    </p:spTree>
    <p:extLst>
      <p:ext uri="{BB962C8B-B14F-4D97-AF65-F5344CB8AC3E}">
        <p14:creationId xmlns:p14="http://schemas.microsoft.com/office/powerpoint/2010/main" val="152320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SaaS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200" dirty="0" smtClean="0">
                <a:hlinkClick r:id="rId2"/>
              </a:rPr>
              <a:t>Google </a:t>
            </a:r>
            <a:r>
              <a:rPr lang="en-US" sz="3200" dirty="0">
                <a:hlinkClick r:id="rId2"/>
              </a:rPr>
              <a:t>Workspace</a:t>
            </a:r>
            <a:r>
              <a:rPr lang="en-US" sz="3200" dirty="0"/>
              <a:t> </a:t>
            </a:r>
          </a:p>
          <a:p>
            <a:pPr>
              <a:lnSpc>
                <a:spcPct val="200000"/>
              </a:lnSpc>
            </a:pPr>
            <a:r>
              <a:rPr lang="en-US" sz="3200" dirty="0">
                <a:hlinkClick r:id="rId3"/>
              </a:rPr>
              <a:t>Microsoft 365</a:t>
            </a:r>
            <a:r>
              <a:rPr lang="en-US" sz="3200" dirty="0"/>
              <a:t> </a:t>
            </a:r>
          </a:p>
          <a:p>
            <a:pPr>
              <a:lnSpc>
                <a:spcPct val="200000"/>
              </a:lnSpc>
            </a:pPr>
            <a:r>
              <a:rPr lang="en-US" sz="3200" dirty="0">
                <a:hlinkClick r:id="rId4"/>
              </a:rPr>
              <a:t>Salesforce</a:t>
            </a:r>
            <a:endParaRPr lang="en-US" sz="3200" dirty="0"/>
          </a:p>
          <a:p>
            <a:pPr>
              <a:lnSpc>
                <a:spcPct val="200000"/>
              </a:lnSpc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56638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Real-Time Applications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1582655"/>
            <a:ext cx="8946541" cy="419548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 smtClean="0"/>
              <a:t>Website </a:t>
            </a:r>
            <a:r>
              <a:rPr lang="en-US" sz="2800" dirty="0"/>
              <a:t>Hosting (IaaS)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Mobile App Development (PaaS)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Email Services (SaaS)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Online Collaboration Tools</a:t>
            </a:r>
          </a:p>
          <a:p>
            <a:pPr>
              <a:lnSpc>
                <a:spcPct val="20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11462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of Cloud Service Models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 smtClean="0"/>
              <a:t>AI </a:t>
            </a:r>
            <a:r>
              <a:rPr lang="en-US" sz="2800" dirty="0"/>
              <a:t>Integration </a:t>
            </a:r>
          </a:p>
          <a:p>
            <a:pPr>
              <a:lnSpc>
                <a:spcPct val="200000"/>
              </a:lnSpc>
            </a:pPr>
            <a:r>
              <a:rPr lang="en-US" sz="2800" dirty="0" err="1"/>
              <a:t>Serverless</a:t>
            </a:r>
            <a:r>
              <a:rPr lang="en-US" sz="2800" dirty="0"/>
              <a:t> Computing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Enhanced Security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Edge Computing</a:t>
            </a:r>
          </a:p>
          <a:p>
            <a:pPr>
              <a:lnSpc>
                <a:spcPct val="20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303206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174</TotalTime>
  <Words>329</Words>
  <Application>Microsoft Office PowerPoint</Application>
  <PresentationFormat>Widescreen</PresentationFormat>
  <Paragraphs>106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Wingdings 3</vt:lpstr>
      <vt:lpstr>Ion</vt:lpstr>
      <vt:lpstr>Cloud Service Models</vt:lpstr>
      <vt:lpstr>Introduction to Cloud Computing </vt:lpstr>
      <vt:lpstr>What are Cloud Service Models? </vt:lpstr>
      <vt:lpstr>Need for Cloud Service Models </vt:lpstr>
      <vt:lpstr>Types of Cloud Service Models </vt:lpstr>
      <vt:lpstr>Infrastructure as a Service (IaaS) </vt:lpstr>
      <vt:lpstr>Cloud Service Model Architecture </vt:lpstr>
      <vt:lpstr>Advantages of IaaS</vt:lpstr>
      <vt:lpstr>PowerPoint Presentation</vt:lpstr>
      <vt:lpstr>Disadvantages of IaaS </vt:lpstr>
      <vt:lpstr>Features of IaaS </vt:lpstr>
      <vt:lpstr>Examples of IaaS </vt:lpstr>
      <vt:lpstr>Platform as a Service (PaaS) </vt:lpstr>
      <vt:lpstr>Advantages of PaaS </vt:lpstr>
      <vt:lpstr>Disadvantages of PaaS </vt:lpstr>
      <vt:lpstr>Software as a Service (SaaS) </vt:lpstr>
      <vt:lpstr>Features of SaaS </vt:lpstr>
      <vt:lpstr>Advantages of SaaS </vt:lpstr>
      <vt:lpstr>Disadvantages of SaaS </vt:lpstr>
      <vt:lpstr>Examples of SaaS </vt:lpstr>
      <vt:lpstr>Real-Time Applications </vt:lpstr>
      <vt:lpstr>Future of Cloud Service Models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Service Models</dc:title>
  <dc:creator>sudheer kumar</dc:creator>
  <cp:lastModifiedBy>sudheer kumar</cp:lastModifiedBy>
  <cp:revision>5</cp:revision>
  <dcterms:created xsi:type="dcterms:W3CDTF">2026-07-07T02:11:29Z</dcterms:created>
  <dcterms:modified xsi:type="dcterms:W3CDTF">2026-07-08T02:38:54Z</dcterms:modified>
</cp:coreProperties>
</file>