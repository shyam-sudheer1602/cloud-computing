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8" r:id="rId1"/>
  </p:sldMasterIdLst>
  <p:sldIdLst>
    <p:sldId id="256" r:id="rId2"/>
    <p:sldId id="257" r:id="rId3"/>
    <p:sldId id="274" r:id="rId4"/>
    <p:sldId id="258" r:id="rId5"/>
    <p:sldId id="259" r:id="rId6"/>
    <p:sldId id="275" r:id="rId7"/>
    <p:sldId id="279" r:id="rId8"/>
    <p:sldId id="260" r:id="rId9"/>
    <p:sldId id="261" r:id="rId10"/>
    <p:sldId id="262" r:id="rId11"/>
    <p:sldId id="276" r:id="rId12"/>
    <p:sldId id="263" r:id="rId13"/>
    <p:sldId id="280" r:id="rId14"/>
    <p:sldId id="264" r:id="rId15"/>
    <p:sldId id="265" r:id="rId16"/>
    <p:sldId id="266" r:id="rId17"/>
    <p:sldId id="267" r:id="rId18"/>
    <p:sldId id="277" r:id="rId19"/>
    <p:sldId id="268" r:id="rId20"/>
    <p:sldId id="269" r:id="rId21"/>
    <p:sldId id="270" r:id="rId22"/>
    <p:sldId id="271" r:id="rId23"/>
    <p:sldId id="281" r:id="rId24"/>
    <p:sldId id="278" r:id="rId25"/>
    <p:sldId id="272" r:id="rId26"/>
    <p:sldId id="273"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5" d="100"/>
          <a:sy n="65" d="100"/>
        </p:scale>
        <p:origin x="153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932170" y="4323845"/>
            <a:ext cx="2297429" cy="365125"/>
          </a:xfrm>
        </p:spPr>
        <p:txBody>
          <a:bodyPr/>
          <a:lstStyle/>
          <a:p>
            <a:fld id="{5BCAD085-E8A6-8845-BD4E-CB4CCA059FC4}" type="datetimeFigureOut">
              <a:rPr lang="en-US" smtClean="0"/>
              <a:t>7/14/2026</a:t>
            </a:fld>
            <a:endParaRPr lang="en-US"/>
          </a:p>
        </p:txBody>
      </p:sp>
      <p:sp>
        <p:nvSpPr>
          <p:cNvPr id="5" name="Footer Placeholder 4"/>
          <p:cNvSpPr>
            <a:spLocks noGrp="1"/>
          </p:cNvSpPr>
          <p:nvPr>
            <p:ph type="ftr" sz="quarter" idx="11"/>
          </p:nvPr>
        </p:nvSpPr>
        <p:spPr>
          <a:xfrm>
            <a:off x="914400" y="4323846"/>
            <a:ext cx="4880610" cy="365125"/>
          </a:xfrm>
        </p:spPr>
        <p:txBody>
          <a:bodyPr/>
          <a:lstStyle/>
          <a:p>
            <a:endParaRPr lang="en-US"/>
          </a:p>
        </p:txBody>
      </p:sp>
      <p:sp>
        <p:nvSpPr>
          <p:cNvPr id="6" name="Slide Number Placeholder 5"/>
          <p:cNvSpPr>
            <a:spLocks noGrp="1"/>
          </p:cNvSpPr>
          <p:nvPr>
            <p:ph type="sldNum" sz="quarter" idx="12"/>
          </p:nvPr>
        </p:nvSpPr>
        <p:spPr>
          <a:xfrm>
            <a:off x="6057900" y="1430867"/>
            <a:ext cx="21717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507339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683955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7/14/2026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56852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99061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4359" y="3132667"/>
            <a:ext cx="3910579"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2098" y="3132667"/>
            <a:ext cx="3907541"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7/14/2026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97160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7/14/2026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44558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64436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88226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003798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14672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7/14/2026</a:t>
            </a:fld>
            <a:endParaRPr lang="en-US"/>
          </a:p>
        </p:txBody>
      </p:sp>
      <p:sp>
        <p:nvSpPr>
          <p:cNvPr id="6" name="Footer Placeholder 5"/>
          <p:cNvSpPr>
            <a:spLocks noGrp="1"/>
          </p:cNvSpPr>
          <p:nvPr>
            <p:ph type="ftr" sz="quarter" idx="11"/>
          </p:nvPr>
        </p:nvSpPr>
        <p:spPr>
          <a:xfrm>
            <a:off x="594360" y="381001"/>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281741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7/14/2026</a:t>
            </a:fld>
            <a:endParaRPr lang="en-US"/>
          </a:p>
        </p:txBody>
      </p:sp>
      <p:sp>
        <p:nvSpPr>
          <p:cNvPr id="6" name="Footer Placeholder 5"/>
          <p:cNvSpPr>
            <a:spLocks noGrp="1"/>
          </p:cNvSpPr>
          <p:nvPr>
            <p:ph type="ftr" sz="quarter" idx="11"/>
          </p:nvPr>
        </p:nvSpPr>
        <p:spPr>
          <a:xfrm>
            <a:off x="594360" y="379438"/>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46986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78884"/>
            <a:ext cx="2183130" cy="365125"/>
          </a:xfrm>
        </p:spPr>
        <p:txBody>
          <a:bodyPr/>
          <a:lstStyle>
            <a:lvl1pPr algn="r">
              <a:defRPr/>
            </a:lvl1pPr>
          </a:lstStyle>
          <a:p>
            <a:fld id="{5BCAD085-E8A6-8845-BD4E-CB4CCA059FC4}" type="datetimeFigureOut">
              <a:rPr lang="en-US" smtClean="0"/>
              <a:t>7/14/2026</a:t>
            </a:fld>
            <a:endParaRPr lang="en-US"/>
          </a:p>
        </p:txBody>
      </p:sp>
      <p:sp>
        <p:nvSpPr>
          <p:cNvPr id="6" name="Footer Placeholder 5"/>
          <p:cNvSpPr>
            <a:spLocks noGrp="1"/>
          </p:cNvSpPr>
          <p:nvPr>
            <p:ph type="ftr" sz="quarter" idx="11"/>
          </p:nvPr>
        </p:nvSpPr>
        <p:spPr>
          <a:xfrm>
            <a:off x="594360" y="378884"/>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478091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7/14/2026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71724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7/14/2026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023220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755512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7/14/2026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46706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764373"/>
            <a:ext cx="637794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94360" y="2194560"/>
            <a:ext cx="7955280" cy="40690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12230" y="6356351"/>
            <a:ext cx="213741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7/14/2026</a:t>
            </a:fld>
            <a:endParaRPr lang="en-US"/>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72250" y="381001"/>
            <a:ext cx="197739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602201626"/>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0374" y="546105"/>
            <a:ext cx="7315200" cy="1825096"/>
          </a:xfrm>
        </p:spPr>
        <p:txBody>
          <a:bodyPr/>
          <a:lstStyle/>
          <a:p>
            <a:r>
              <a:rPr dirty="0"/>
              <a:t>Multicore Technology</a:t>
            </a:r>
          </a:p>
        </p:txBody>
      </p:sp>
      <p:pic>
        <p:nvPicPr>
          <p:cNvPr id="3" name="Picture 2" descr="Myths vs Truths: Multicore CPUs - Lucas C">
            <a:extLst>
              <a:ext uri="{FF2B5EF4-FFF2-40B4-BE49-F238E27FC236}">
                <a16:creationId xmlns:a16="http://schemas.microsoft.com/office/drawing/2014/main" id="{320DA3C7-19F6-1D4E-4ACC-AE37BF29FF79}"/>
              </a:ext>
            </a:extLst>
          </p:cNvPr>
          <p:cNvPicPr>
            <a:picLocks noChangeAspect="1"/>
          </p:cNvPicPr>
          <p:nvPr/>
        </p:nvPicPr>
        <p:blipFill>
          <a:blip r:embed="rId2"/>
          <a:stretch>
            <a:fillRect/>
          </a:stretch>
        </p:blipFill>
        <p:spPr>
          <a:xfrm>
            <a:off x="1351588" y="2596114"/>
            <a:ext cx="6420811" cy="401300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873045"/>
            <a:ext cx="8168148" cy="4063144"/>
          </a:xfrm>
        </p:spPr>
        <p:txBody>
          <a:bodyPr>
            <a:normAutofit fontScale="92500"/>
          </a:bodyPr>
          <a:lstStyle/>
          <a:p>
            <a:pPr>
              <a:lnSpc>
                <a:spcPct val="200000"/>
              </a:lnSpc>
              <a:defRPr sz="2400"/>
            </a:pPr>
            <a:r>
              <a:rPr sz="3200" dirty="0"/>
              <a:t>Multicore technology means one CPU has two or more cores.</a:t>
            </a:r>
          </a:p>
          <a:p>
            <a:pPr>
              <a:lnSpc>
                <a:spcPct val="200000"/>
              </a:lnSpc>
              <a:defRPr sz="2400"/>
            </a:pPr>
            <a:r>
              <a:rPr sz="3200" dirty="0"/>
              <a:t>A core is a small processor inside the CPU.</a:t>
            </a:r>
          </a:p>
          <a:p>
            <a:pPr>
              <a:lnSpc>
                <a:spcPct val="200000"/>
              </a:lnSpc>
              <a:defRPr sz="2400"/>
            </a:pPr>
            <a:r>
              <a:rPr sz="3200" dirty="0"/>
              <a:t>Each core can do its own work.</a:t>
            </a: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59437A-38A5-2502-B478-3327450AFB32}"/>
              </a:ext>
            </a:extLst>
          </p:cNvPr>
          <p:cNvSpPr>
            <a:spLocks noGrp="1"/>
          </p:cNvSpPr>
          <p:nvPr>
            <p:ph idx="1"/>
          </p:nvPr>
        </p:nvSpPr>
        <p:spPr/>
        <p:txBody>
          <a:bodyPr/>
          <a:lstStyle/>
          <a:p>
            <a:r>
              <a:rPr lang="en-US" dirty="0"/>
              <a:t>MULTI CORE PROCESSOR</a:t>
            </a:r>
            <a:endParaRPr lang="en-IN" dirty="0"/>
          </a:p>
        </p:txBody>
      </p:sp>
      <p:pic>
        <p:nvPicPr>
          <p:cNvPr id="4" name="Picture 3" descr="Advantages of Multi Core Processor | 01">
            <a:extLst>
              <a:ext uri="{FF2B5EF4-FFF2-40B4-BE49-F238E27FC236}">
                <a16:creationId xmlns:a16="http://schemas.microsoft.com/office/drawing/2014/main" id="{E43E7C77-63E2-F3D8-0DD3-19B5C4341BAE}"/>
              </a:ext>
            </a:extLst>
          </p:cNvPr>
          <p:cNvPicPr>
            <a:picLocks noChangeAspect="1"/>
          </p:cNvPicPr>
          <p:nvPr/>
        </p:nvPicPr>
        <p:blipFill>
          <a:blip r:embed="rId2"/>
          <a:stretch>
            <a:fillRect/>
          </a:stretch>
        </p:blipFill>
        <p:spPr>
          <a:xfrm>
            <a:off x="4838700" y="1042987"/>
            <a:ext cx="4038600" cy="3415359"/>
          </a:xfrm>
          <a:prstGeom prst="rect">
            <a:avLst/>
          </a:prstGeom>
        </p:spPr>
      </p:pic>
    </p:spTree>
    <p:extLst>
      <p:ext uri="{BB962C8B-B14F-4D97-AF65-F5344CB8AC3E}">
        <p14:creationId xmlns:p14="http://schemas.microsoft.com/office/powerpoint/2010/main" val="3181366208"/>
      </p:ext>
    </p:ext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9865" y="1737189"/>
            <a:ext cx="8271387" cy="4653079"/>
          </a:xfrm>
        </p:spPr>
        <p:txBody>
          <a:bodyPr>
            <a:noAutofit/>
          </a:bodyPr>
          <a:lstStyle/>
          <a:p>
            <a:pPr>
              <a:lnSpc>
                <a:spcPct val="150000"/>
              </a:lnSpc>
              <a:defRPr sz="2400"/>
            </a:pPr>
            <a:r>
              <a:rPr sz="3200" dirty="0"/>
              <a:t>Multicore processors make computers</a:t>
            </a:r>
            <a:r>
              <a:rPr lang="en-US" sz="3200" dirty="0"/>
              <a:t> </a:t>
            </a:r>
            <a:r>
              <a:rPr sz="3200" dirty="0"/>
              <a:t>faster.</a:t>
            </a:r>
          </a:p>
          <a:p>
            <a:pPr>
              <a:lnSpc>
                <a:spcPct val="150000"/>
              </a:lnSpc>
              <a:defRPr sz="2400"/>
            </a:pPr>
            <a:r>
              <a:rPr sz="3200" dirty="0"/>
              <a:t>They can run many programs at the</a:t>
            </a:r>
            <a:r>
              <a:rPr lang="en-US" sz="3200" dirty="0"/>
              <a:t> </a:t>
            </a:r>
            <a:r>
              <a:rPr sz="3200" dirty="0"/>
              <a:t>same time.</a:t>
            </a:r>
          </a:p>
          <a:p>
            <a:pPr>
              <a:lnSpc>
                <a:spcPct val="150000"/>
              </a:lnSpc>
              <a:defRPr sz="2400"/>
            </a:pPr>
            <a:r>
              <a:rPr sz="3200" dirty="0"/>
              <a:t>Dual-core means the CPU has 2 cores.</a:t>
            </a: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3375" y="1642747"/>
            <a:ext cx="8094406" cy="3900912"/>
          </a:xfrm>
        </p:spPr>
        <p:txBody>
          <a:bodyPr>
            <a:normAutofit fontScale="92500"/>
          </a:bodyPr>
          <a:lstStyle/>
          <a:p>
            <a:pPr>
              <a:lnSpc>
                <a:spcPct val="200000"/>
              </a:lnSpc>
              <a:defRPr sz="2400"/>
            </a:pPr>
            <a:r>
              <a:rPr sz="3200" dirty="0"/>
              <a:t>Quad-core means the CPU has 4 cores.</a:t>
            </a:r>
            <a:endParaRPr lang="en-US" sz="3200" dirty="0"/>
          </a:p>
          <a:p>
            <a:pPr>
              <a:lnSpc>
                <a:spcPct val="200000"/>
              </a:lnSpc>
              <a:defRPr sz="2400"/>
            </a:pPr>
            <a:r>
              <a:rPr sz="3200" dirty="0"/>
              <a:t>Hexa-core means the CPU has 6 cores.</a:t>
            </a:r>
          </a:p>
          <a:p>
            <a:pPr>
              <a:lnSpc>
                <a:spcPct val="200000"/>
              </a:lnSpc>
              <a:defRPr sz="2400"/>
            </a:pPr>
            <a:r>
              <a:rPr sz="3200" dirty="0"/>
              <a:t>Octa-core means the CPU has 8 cores.</a:t>
            </a: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01EA3-7471-4CCA-59D9-671CD38AE235}"/>
              </a:ext>
            </a:extLst>
          </p:cNvPr>
          <p:cNvSpPr>
            <a:spLocks noGrp="1"/>
          </p:cNvSpPr>
          <p:nvPr>
            <p:ph type="title"/>
          </p:nvPr>
        </p:nvSpPr>
        <p:spPr/>
        <p:txBody>
          <a:bodyPr/>
          <a:lstStyle/>
          <a:p>
            <a:endParaRPr lang="en-IN"/>
          </a:p>
        </p:txBody>
      </p:sp>
      <p:pic>
        <p:nvPicPr>
          <p:cNvPr id="4" name="Picture 3" descr="Single-core CPU vs Multi-core CPU: Complete Comparison Guide">
            <a:extLst>
              <a:ext uri="{FF2B5EF4-FFF2-40B4-BE49-F238E27FC236}">
                <a16:creationId xmlns:a16="http://schemas.microsoft.com/office/drawing/2014/main" id="{94D85175-8A6A-F85A-6AAB-EE6BD2106A54}"/>
              </a:ext>
            </a:extLst>
          </p:cNvPr>
          <p:cNvPicPr>
            <a:picLocks noChangeAspect="1"/>
          </p:cNvPicPr>
          <p:nvPr/>
        </p:nvPicPr>
        <p:blipFill>
          <a:blip r:embed="rId2"/>
          <a:stretch>
            <a:fillRect/>
          </a:stretch>
        </p:blipFill>
        <p:spPr>
          <a:xfrm>
            <a:off x="1" y="-110438"/>
            <a:ext cx="9144000" cy="6968438"/>
          </a:xfrm>
          <a:prstGeom prst="rect">
            <a:avLst/>
          </a:prstGeom>
        </p:spPr>
      </p:pic>
    </p:spTree>
    <p:extLst>
      <p:ext uri="{BB962C8B-B14F-4D97-AF65-F5344CB8AC3E}">
        <p14:creationId xmlns:p14="http://schemas.microsoft.com/office/powerpoint/2010/main" val="47016295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wind"/>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ll Types Of CPU 😮 Follow for more and share with your friends👍 All  Computer Gyaan95 All Computer Gyaan95 Computer Hardware Software &amp;  Networking ⚠️ Do not reuse or repost this content">
            <a:extLst>
              <a:ext uri="{FF2B5EF4-FFF2-40B4-BE49-F238E27FC236}">
                <a16:creationId xmlns:a16="http://schemas.microsoft.com/office/drawing/2014/main" id="{069687E3-187F-B491-A0BD-9636DC3BCAD5}"/>
              </a:ext>
            </a:extLst>
          </p:cNvPr>
          <p:cNvPicPr>
            <a:picLocks noGrp="1" noChangeAspect="1"/>
          </p:cNvPicPr>
          <p:nvPr>
            <p:ph idx="1"/>
          </p:nvPr>
        </p:nvPicPr>
        <p:blipFill>
          <a:blip r:embed="rId2"/>
          <a:stretch>
            <a:fillRect/>
          </a:stretch>
        </p:blipFill>
        <p:spPr>
          <a:xfrm>
            <a:off x="1320684" y="-545690"/>
            <a:ext cx="6502632" cy="8164962"/>
          </a:xfrm>
          <a:prstGeom prst="rect">
            <a:avLst/>
          </a:prstGeom>
        </p:spPr>
      </p:pic>
    </p:spTree>
    <p:extLst>
      <p:ext uri="{BB962C8B-B14F-4D97-AF65-F5344CB8AC3E}">
        <p14:creationId xmlns:p14="http://schemas.microsoft.com/office/powerpoint/2010/main" val="163281578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0664" y="1112756"/>
            <a:ext cx="8374626" cy="4285153"/>
          </a:xfrm>
        </p:spPr>
        <p:txBody>
          <a:bodyPr>
            <a:normAutofit/>
          </a:bodyPr>
          <a:lstStyle/>
          <a:p>
            <a:pPr>
              <a:lnSpc>
                <a:spcPct val="250000"/>
              </a:lnSpc>
              <a:defRPr sz="2400"/>
            </a:pPr>
            <a:r>
              <a:rPr sz="3200" dirty="0"/>
              <a:t>More cores can improve performance.</a:t>
            </a:r>
          </a:p>
          <a:p>
            <a:pPr>
              <a:lnSpc>
                <a:spcPct val="250000"/>
              </a:lnSpc>
              <a:defRPr sz="2400"/>
            </a:pPr>
            <a:r>
              <a:rPr sz="3200" dirty="0"/>
              <a:t>Multicore CPUs help with multitasking.</a:t>
            </a:r>
          </a:p>
          <a:p>
            <a:pPr>
              <a:lnSpc>
                <a:spcPct val="250000"/>
              </a:lnSpc>
              <a:defRPr sz="2400"/>
            </a:pPr>
            <a:r>
              <a:rPr sz="3200" dirty="0"/>
              <a:t>They reduce waiting time.</a:t>
            </a:r>
          </a:p>
        </p:txBody>
      </p:sp>
    </p:spTree>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1164" y="1201247"/>
            <a:ext cx="7961671" cy="4196662"/>
          </a:xfrm>
        </p:spPr>
        <p:txBody>
          <a:bodyPr>
            <a:normAutofit/>
          </a:bodyPr>
          <a:lstStyle/>
          <a:p>
            <a:pPr>
              <a:lnSpc>
                <a:spcPct val="200000"/>
              </a:lnSpc>
              <a:defRPr sz="2400"/>
            </a:pPr>
            <a:r>
              <a:rPr sz="3200" dirty="0"/>
              <a:t>They improve system speed.</a:t>
            </a:r>
          </a:p>
          <a:p>
            <a:pPr>
              <a:lnSpc>
                <a:spcPct val="200000"/>
              </a:lnSpc>
              <a:defRPr sz="2400"/>
            </a:pPr>
            <a:r>
              <a:rPr sz="3200" dirty="0"/>
              <a:t>They help applications run smoothly.</a:t>
            </a:r>
          </a:p>
          <a:p>
            <a:pPr>
              <a:lnSpc>
                <a:spcPct val="200000"/>
              </a:lnSpc>
              <a:defRPr sz="2400"/>
            </a:pPr>
            <a:r>
              <a:rPr sz="3200" dirty="0"/>
              <a:t>They are used in computers and laptops.</a:t>
            </a:r>
          </a:p>
        </p:txBody>
      </p:sp>
    </p:spTree>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7988" y="2336872"/>
            <a:ext cx="8922774" cy="4004933"/>
          </a:xfrm>
        </p:spPr>
        <p:txBody>
          <a:bodyPr>
            <a:normAutofit/>
          </a:bodyPr>
          <a:lstStyle/>
          <a:p>
            <a:pPr>
              <a:lnSpc>
                <a:spcPct val="200000"/>
              </a:lnSpc>
              <a:defRPr sz="2400"/>
            </a:pPr>
            <a:r>
              <a:rPr sz="3200" dirty="0"/>
              <a:t>Smartphones also use multicore processors.</a:t>
            </a:r>
          </a:p>
          <a:p>
            <a:pPr>
              <a:lnSpc>
                <a:spcPct val="200000"/>
              </a:lnSpc>
              <a:defRPr sz="2400"/>
            </a:pPr>
            <a:r>
              <a:rPr sz="3200" dirty="0"/>
              <a:t>Tablets use multicore technology too.</a:t>
            </a:r>
          </a:p>
          <a:p>
            <a:pPr>
              <a:lnSpc>
                <a:spcPct val="200000"/>
              </a:lnSpc>
              <a:defRPr sz="2400"/>
            </a:pPr>
            <a:r>
              <a:rPr sz="3200" dirty="0"/>
              <a:t>Servers use many-core processors.</a:t>
            </a: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Every Type of Processor Explained">
            <a:extLst>
              <a:ext uri="{FF2B5EF4-FFF2-40B4-BE49-F238E27FC236}">
                <a16:creationId xmlns:a16="http://schemas.microsoft.com/office/drawing/2014/main" id="{10086E5E-873E-4541-24DB-D58992E00486}"/>
              </a:ext>
            </a:extLst>
          </p:cNvPr>
          <p:cNvPicPr>
            <a:picLocks noGrp="1" noChangeAspect="1"/>
          </p:cNvPicPr>
          <p:nvPr>
            <p:ph idx="1"/>
          </p:nvPr>
        </p:nvPicPr>
        <p:blipFill>
          <a:blip r:embed="rId2"/>
          <a:stretch>
            <a:fillRect/>
          </a:stretch>
        </p:blipFill>
        <p:spPr>
          <a:xfrm>
            <a:off x="-18446" y="0"/>
            <a:ext cx="9162446" cy="6858000"/>
          </a:xfrm>
          <a:prstGeom prst="rect">
            <a:avLst/>
          </a:prstGeom>
        </p:spPr>
      </p:pic>
    </p:spTree>
    <p:extLst>
      <p:ext uri="{BB962C8B-B14F-4D97-AF65-F5344CB8AC3E}">
        <p14:creationId xmlns:p14="http://schemas.microsoft.com/office/powerpoint/2010/main" val="3406428110"/>
      </p:ext>
    </p:extLst>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9212" y="2079523"/>
            <a:ext cx="8332840" cy="4350774"/>
          </a:xfrm>
        </p:spPr>
        <p:txBody>
          <a:bodyPr>
            <a:normAutofit/>
          </a:bodyPr>
          <a:lstStyle/>
          <a:p>
            <a:pPr>
              <a:lnSpc>
                <a:spcPct val="200000"/>
              </a:lnSpc>
              <a:defRPr sz="2400"/>
            </a:pPr>
            <a:r>
              <a:rPr sz="3200" dirty="0"/>
              <a:t>Gaming computers use multicore CPUs.</a:t>
            </a:r>
          </a:p>
          <a:p>
            <a:pPr>
              <a:lnSpc>
                <a:spcPct val="200000"/>
              </a:lnSpc>
              <a:defRPr sz="2400"/>
            </a:pPr>
            <a:r>
              <a:rPr sz="3200" dirty="0"/>
              <a:t>Modern software supports multicore processing.</a:t>
            </a:r>
          </a:p>
          <a:p>
            <a:pPr>
              <a:lnSpc>
                <a:spcPct val="200000"/>
              </a:lnSpc>
              <a:defRPr sz="2400"/>
            </a:pPr>
            <a:r>
              <a:rPr sz="3200" dirty="0"/>
              <a:t>Each core can run a different task.</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prestig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Multi Core Processors Explained - Single Core, Dual Core, Quad Core, Octa  Core CPUs - YouTube">
            <a:extLst>
              <a:ext uri="{FF2B5EF4-FFF2-40B4-BE49-F238E27FC236}">
                <a16:creationId xmlns:a16="http://schemas.microsoft.com/office/drawing/2014/main" id="{5FD91695-1446-758B-810F-FB9EBB57FFF9}"/>
              </a:ext>
            </a:extLst>
          </p:cNvPr>
          <p:cNvPicPr>
            <a:picLocks noGrp="1" noChangeAspect="1"/>
          </p:cNvPicPr>
          <p:nvPr>
            <p:ph idx="1"/>
          </p:nvPr>
        </p:nvPicPr>
        <p:blipFill>
          <a:blip r:embed="rId2"/>
          <a:stretch>
            <a:fillRect/>
          </a:stretch>
        </p:blipFill>
        <p:spPr>
          <a:xfrm>
            <a:off x="0" y="1150373"/>
            <a:ext cx="9147590" cy="5147187"/>
          </a:xfrm>
          <a:prstGeom prst="rect">
            <a:avLst/>
          </a:prstGeom>
        </p:spPr>
      </p:pic>
    </p:spTree>
    <p:extLst>
      <p:ext uri="{BB962C8B-B14F-4D97-AF65-F5344CB8AC3E}">
        <p14:creationId xmlns:p14="http://schemas.microsoft.com/office/powerpoint/2010/main" val="2396616247"/>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3961" y="1976284"/>
            <a:ext cx="8421329" cy="4277031"/>
          </a:xfrm>
        </p:spPr>
        <p:txBody>
          <a:bodyPr>
            <a:normAutofit fontScale="85000" lnSpcReduction="10000"/>
          </a:bodyPr>
          <a:lstStyle/>
          <a:p>
            <a:pPr>
              <a:lnSpc>
                <a:spcPct val="150000"/>
              </a:lnSpc>
              <a:defRPr sz="2400"/>
            </a:pPr>
            <a:r>
              <a:rPr sz="3600" dirty="0"/>
              <a:t>Multicore CPUs save time.</a:t>
            </a:r>
          </a:p>
          <a:p>
            <a:pPr>
              <a:lnSpc>
                <a:spcPct val="150000"/>
              </a:lnSpc>
              <a:defRPr sz="2400"/>
            </a:pPr>
            <a:endParaRPr lang="en-US" sz="3600" dirty="0"/>
          </a:p>
          <a:p>
            <a:pPr>
              <a:lnSpc>
                <a:spcPct val="150000"/>
              </a:lnSpc>
              <a:defRPr sz="2400"/>
            </a:pPr>
            <a:r>
              <a:rPr sz="3600" dirty="0"/>
              <a:t>They increase productivity.</a:t>
            </a:r>
          </a:p>
          <a:p>
            <a:pPr>
              <a:lnSpc>
                <a:spcPct val="150000"/>
              </a:lnSpc>
              <a:defRPr sz="2400"/>
            </a:pPr>
            <a:endParaRPr lang="en-US" sz="3600" dirty="0"/>
          </a:p>
          <a:p>
            <a:pPr>
              <a:lnSpc>
                <a:spcPct val="150000"/>
              </a:lnSpc>
              <a:defRPr sz="2400"/>
            </a:pPr>
            <a:r>
              <a:rPr sz="3600" dirty="0"/>
              <a:t>They improve video editing performance.</a:t>
            </a:r>
          </a:p>
        </p:txBody>
      </p:sp>
    </p:spTree>
  </p:cSld>
  <p:clrMapOvr>
    <a:masterClrMapping/>
  </p:clrMapOvr>
  <p:transition spd="slow">
    <p:randomBar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2005781"/>
            <a:ext cx="8418871" cy="4601496"/>
          </a:xfrm>
        </p:spPr>
        <p:txBody>
          <a:bodyPr>
            <a:normAutofit/>
          </a:bodyPr>
          <a:lstStyle/>
          <a:p>
            <a:pPr>
              <a:lnSpc>
                <a:spcPct val="200000"/>
              </a:lnSpc>
              <a:defRPr sz="2400"/>
            </a:pPr>
            <a:r>
              <a:rPr sz="3600" dirty="0"/>
              <a:t>They make gaming smoother.</a:t>
            </a:r>
            <a:endParaRPr lang="en-US" sz="3600" dirty="0"/>
          </a:p>
          <a:p>
            <a:pPr>
              <a:lnSpc>
                <a:spcPct val="200000"/>
              </a:lnSpc>
              <a:defRPr sz="2400"/>
            </a:pPr>
            <a:r>
              <a:rPr sz="3600" dirty="0"/>
              <a:t>They help in 3D rendering.</a:t>
            </a:r>
          </a:p>
          <a:p>
            <a:pPr>
              <a:lnSpc>
                <a:spcPct val="200000"/>
              </a:lnSpc>
              <a:defRPr sz="2400"/>
            </a:pPr>
            <a:r>
              <a:rPr sz="3600" dirty="0"/>
              <a:t>They support virtual machines.</a:t>
            </a:r>
          </a:p>
        </p:txBody>
      </p:sp>
    </p:spTree>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6981" y="1460090"/>
            <a:ext cx="8303342" cy="5117691"/>
          </a:xfrm>
        </p:spPr>
        <p:txBody>
          <a:bodyPr>
            <a:normAutofit/>
          </a:bodyPr>
          <a:lstStyle/>
          <a:p>
            <a:pPr>
              <a:lnSpc>
                <a:spcPct val="200000"/>
              </a:lnSpc>
              <a:defRPr sz="2400"/>
            </a:pPr>
            <a:r>
              <a:rPr sz="3200" dirty="0"/>
              <a:t>They improve software development work.</a:t>
            </a:r>
          </a:p>
          <a:p>
            <a:pPr>
              <a:lnSpc>
                <a:spcPct val="200000"/>
              </a:lnSpc>
              <a:defRPr sz="2400"/>
            </a:pPr>
            <a:r>
              <a:rPr sz="3200" dirty="0"/>
              <a:t>They are useful for data processing.</a:t>
            </a:r>
          </a:p>
          <a:p>
            <a:pPr>
              <a:lnSpc>
                <a:spcPct val="200000"/>
              </a:lnSpc>
              <a:defRPr sz="2400"/>
            </a:pPr>
            <a:r>
              <a:rPr sz="3200" dirty="0"/>
              <a:t>They handle large files easily.</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7988" y="2336873"/>
            <a:ext cx="8893278" cy="3599316"/>
          </a:xfrm>
        </p:spPr>
        <p:txBody>
          <a:bodyPr>
            <a:normAutofit lnSpcReduction="10000"/>
          </a:bodyPr>
          <a:lstStyle/>
          <a:p>
            <a:pPr>
              <a:defRPr sz="2400"/>
            </a:pPr>
            <a:r>
              <a:rPr sz="3200" dirty="0"/>
              <a:t>Multicore processors use parallel processing.</a:t>
            </a:r>
            <a:endParaRPr lang="en-US" sz="3200" dirty="0"/>
          </a:p>
          <a:p>
            <a:pPr>
              <a:defRPr sz="2400"/>
            </a:pPr>
            <a:endParaRPr sz="3200" dirty="0"/>
          </a:p>
          <a:p>
            <a:pPr>
              <a:defRPr sz="2400"/>
            </a:pPr>
            <a:r>
              <a:rPr sz="3200" dirty="0"/>
              <a:t>Parallel processing means doing many tasks together.</a:t>
            </a:r>
          </a:p>
          <a:p>
            <a:pPr>
              <a:defRPr sz="2400"/>
            </a:pPr>
            <a:endParaRPr lang="en-US" sz="3200" dirty="0"/>
          </a:p>
          <a:p>
            <a:pPr>
              <a:defRPr sz="2400"/>
            </a:pPr>
            <a:r>
              <a:rPr sz="3200" dirty="0"/>
              <a:t>The operating system manages all cores.</a:t>
            </a:r>
          </a:p>
        </p:txBody>
      </p:sp>
    </p:spTree>
  </p:cSld>
  <p:clrMapOvr>
    <a:masterClrMapping/>
  </p:clrMapOvr>
  <mc:AlternateContent xmlns:mc="http://schemas.openxmlformats.org/markup-compatibility/2006">
    <mc:Choice xmlns:p14="http://schemas.microsoft.com/office/powerpoint/2010/main" Requires="p14">
      <p:transition spd="slow" p14:dur="1600">
        <p14:conveyor dir="l"/>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On Parallel Programming">
            <a:extLst>
              <a:ext uri="{FF2B5EF4-FFF2-40B4-BE49-F238E27FC236}">
                <a16:creationId xmlns:a16="http://schemas.microsoft.com/office/drawing/2014/main" id="{5E461598-5EDE-2EF4-0597-72360CDE2F5D}"/>
              </a:ext>
            </a:extLst>
          </p:cNvPr>
          <p:cNvPicPr>
            <a:picLocks noGrp="1" noChangeAspect="1"/>
          </p:cNvPicPr>
          <p:nvPr>
            <p:ph idx="1"/>
          </p:nvPr>
        </p:nvPicPr>
        <p:blipFill>
          <a:blip r:embed="rId2"/>
          <a:stretch>
            <a:fillRect/>
          </a:stretch>
        </p:blipFill>
        <p:spPr>
          <a:xfrm>
            <a:off x="4102" y="1548581"/>
            <a:ext cx="9287381" cy="5449991"/>
          </a:xfrm>
          <a:prstGeom prst="rect">
            <a:avLst/>
          </a:prstGeom>
        </p:spPr>
      </p:pic>
    </p:spTree>
    <p:extLst>
      <p:ext uri="{BB962C8B-B14F-4D97-AF65-F5344CB8AC3E}">
        <p14:creationId xmlns:p14="http://schemas.microsoft.com/office/powerpoint/2010/main" val="171177128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312606"/>
            <a:ext cx="8686800" cy="5014452"/>
          </a:xfrm>
        </p:spPr>
        <p:txBody>
          <a:bodyPr>
            <a:normAutofit/>
          </a:bodyPr>
          <a:lstStyle/>
          <a:p>
            <a:pPr>
              <a:lnSpc>
                <a:spcPct val="150000"/>
              </a:lnSpc>
              <a:defRPr sz="2400"/>
            </a:pPr>
            <a:r>
              <a:rPr sz="3200" dirty="0"/>
              <a:t>Threads can run on different cores.</a:t>
            </a:r>
          </a:p>
          <a:p>
            <a:pPr>
              <a:lnSpc>
                <a:spcPct val="150000"/>
              </a:lnSpc>
              <a:defRPr sz="2400"/>
            </a:pPr>
            <a:r>
              <a:rPr sz="3200" dirty="0"/>
              <a:t>Programs work faster when they use multiple cores.</a:t>
            </a:r>
          </a:p>
          <a:p>
            <a:pPr>
              <a:lnSpc>
                <a:spcPct val="150000"/>
              </a:lnSpc>
              <a:defRPr sz="2400"/>
            </a:pPr>
            <a:r>
              <a:rPr sz="3200" dirty="0"/>
              <a:t>More cores do not always mean better performance.</a:t>
            </a:r>
          </a:p>
        </p:txBody>
      </p:sp>
    </p:spTree>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3239" y="1843548"/>
            <a:ext cx="8834283" cy="4911213"/>
          </a:xfrm>
        </p:spPr>
        <p:txBody>
          <a:bodyPr>
            <a:normAutofit fontScale="92500"/>
          </a:bodyPr>
          <a:lstStyle/>
          <a:p>
            <a:pPr>
              <a:lnSpc>
                <a:spcPct val="150000"/>
              </a:lnSpc>
              <a:defRPr sz="2400"/>
            </a:pPr>
            <a:r>
              <a:rPr sz="3200" dirty="0"/>
              <a:t>Software must support multicore processing.</a:t>
            </a:r>
            <a:endParaRPr lang="en-US" sz="3200" dirty="0"/>
          </a:p>
          <a:p>
            <a:pPr>
              <a:lnSpc>
                <a:spcPct val="150000"/>
              </a:lnSpc>
              <a:defRPr sz="2400"/>
            </a:pPr>
            <a:endParaRPr sz="3200" dirty="0"/>
          </a:p>
          <a:p>
            <a:pPr>
              <a:lnSpc>
                <a:spcPct val="150000"/>
              </a:lnSpc>
              <a:defRPr sz="2400"/>
            </a:pPr>
            <a:r>
              <a:rPr sz="3200" dirty="0"/>
              <a:t>Good cooling is important for multicore CPUs.</a:t>
            </a:r>
          </a:p>
          <a:p>
            <a:pPr>
              <a:lnSpc>
                <a:spcPct val="150000"/>
              </a:lnSpc>
              <a:defRPr sz="2400"/>
            </a:pPr>
            <a:endParaRPr lang="en-US" sz="3200" dirty="0"/>
          </a:p>
          <a:p>
            <a:pPr>
              <a:lnSpc>
                <a:spcPct val="150000"/>
              </a:lnSpc>
              <a:defRPr sz="2400"/>
            </a:pPr>
            <a:r>
              <a:rPr sz="3200" dirty="0"/>
              <a:t>Multicore processors generate heat.</a:t>
            </a:r>
          </a:p>
        </p:txBody>
      </p:sp>
    </p:spTree>
  </p:cSld>
  <p:clrMapOvr>
    <a:masterClrMapping/>
  </p:clrMapOvr>
  <p:transition spd="slow">
    <p:comb/>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3239" y="2336872"/>
            <a:ext cx="8731045" cy="4078675"/>
          </a:xfrm>
        </p:spPr>
        <p:txBody>
          <a:bodyPr>
            <a:normAutofit fontScale="92500"/>
          </a:bodyPr>
          <a:lstStyle/>
          <a:p>
            <a:pPr>
              <a:lnSpc>
                <a:spcPct val="200000"/>
              </a:lnSpc>
              <a:defRPr sz="2400"/>
            </a:pPr>
            <a:r>
              <a:rPr sz="3600" dirty="0"/>
              <a:t>Cooling systems help keep the CPU safe.</a:t>
            </a:r>
          </a:p>
          <a:p>
            <a:pPr>
              <a:lnSpc>
                <a:spcPct val="200000"/>
              </a:lnSpc>
              <a:defRPr sz="2400"/>
            </a:pPr>
            <a:r>
              <a:rPr sz="3600" dirty="0"/>
              <a:t>Intel makes multicore processors.</a:t>
            </a:r>
          </a:p>
          <a:p>
            <a:pPr>
              <a:lnSpc>
                <a:spcPct val="200000"/>
              </a:lnSpc>
              <a:defRPr sz="2400"/>
            </a:pPr>
            <a:r>
              <a:rPr sz="3600" dirty="0"/>
              <a:t>AMD also makes multicore processors.</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7700" y="2739511"/>
            <a:ext cx="7411064" cy="1740309"/>
          </a:xfrm>
        </p:spPr>
        <p:txBody>
          <a:bodyPr>
            <a:normAutofit/>
          </a:bodyPr>
          <a:lstStyle/>
          <a:p>
            <a:pPr>
              <a:defRPr sz="2400"/>
            </a:pPr>
            <a:r>
              <a:rPr lang="en-US" sz="3200" dirty="0"/>
              <a:t>Apple designs multicore  chips for its devices.</a:t>
            </a:r>
          </a:p>
          <a:p>
            <a:pPr>
              <a:defRPr sz="2400"/>
            </a:pPr>
            <a:endParaRPr lang="en-US" sz="3200" dirty="0"/>
          </a:p>
          <a:p>
            <a:pPr>
              <a:defRPr sz="2400"/>
            </a:pPr>
            <a:endParaRPr lang="en-US" sz="3200" dirty="0"/>
          </a:p>
          <a:p>
            <a:pPr>
              <a:defRPr sz="2400"/>
            </a:pPr>
            <a:endParaRPr sz="32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pple has been designing its own iPhone chips for 15 years now! Starting  with the A4 in 2010 all the way to the A19 Pro in 2025, which of these chips  was">
            <a:extLst>
              <a:ext uri="{FF2B5EF4-FFF2-40B4-BE49-F238E27FC236}">
                <a16:creationId xmlns:a16="http://schemas.microsoft.com/office/drawing/2014/main" id="{9FE89EAD-A113-53E8-DC4E-D1BF8DFD34B5}"/>
              </a:ext>
            </a:extLst>
          </p:cNvPr>
          <p:cNvPicPr>
            <a:picLocks noGrp="1" noChangeAspect="1"/>
          </p:cNvPicPr>
          <p:nvPr>
            <p:ph idx="1"/>
          </p:nvPr>
        </p:nvPicPr>
        <p:blipFill>
          <a:blip r:embed="rId2"/>
          <a:stretch>
            <a:fillRect/>
          </a:stretch>
        </p:blipFill>
        <p:spPr>
          <a:xfrm>
            <a:off x="1792005" y="-545690"/>
            <a:ext cx="5969255" cy="7959009"/>
          </a:xfrm>
          <a:prstGeom prst="rect">
            <a:avLst/>
          </a:prstGeom>
        </p:spPr>
      </p:pic>
    </p:spTree>
    <p:extLst>
      <p:ext uri="{BB962C8B-B14F-4D97-AF65-F5344CB8AC3E}">
        <p14:creationId xmlns:p14="http://schemas.microsoft.com/office/powerpoint/2010/main" val="3640095775"/>
      </p:ext>
    </p:extLst>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8BF01E-780A-B425-B8D6-E6C80CBB298E}"/>
              </a:ext>
            </a:extLst>
          </p:cNvPr>
          <p:cNvSpPr>
            <a:spLocks noGrp="1"/>
          </p:cNvSpPr>
          <p:nvPr>
            <p:ph idx="1"/>
          </p:nvPr>
        </p:nvSpPr>
        <p:spPr>
          <a:xfrm>
            <a:off x="533400" y="2336873"/>
            <a:ext cx="7873181" cy="3599316"/>
          </a:xfrm>
        </p:spPr>
        <p:txBody>
          <a:bodyPr>
            <a:normAutofit/>
          </a:bodyPr>
          <a:lstStyle/>
          <a:p>
            <a:pPr>
              <a:defRPr sz="2400"/>
            </a:pPr>
            <a:r>
              <a:rPr lang="en-US" sz="2800" dirty="0"/>
              <a:t>Multicore processors improve energy efficiency.</a:t>
            </a:r>
          </a:p>
          <a:p>
            <a:pPr>
              <a:defRPr sz="2400"/>
            </a:pPr>
            <a:endParaRPr lang="en-US" sz="2800" dirty="0"/>
          </a:p>
          <a:p>
            <a:pPr>
              <a:defRPr sz="2400"/>
            </a:pPr>
            <a:r>
              <a:rPr lang="en-US" sz="2800" dirty="0"/>
              <a:t>They reduce power consumption compared to older designs.</a:t>
            </a:r>
          </a:p>
          <a:p>
            <a:endParaRPr lang="en-IN" sz="2800" dirty="0"/>
          </a:p>
        </p:txBody>
      </p:sp>
    </p:spTree>
    <p:extLst>
      <p:ext uri="{BB962C8B-B14F-4D97-AF65-F5344CB8AC3E}">
        <p14:creationId xmlns:p14="http://schemas.microsoft.com/office/powerpoint/2010/main" val="1275329817"/>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3683" y="1363480"/>
            <a:ext cx="8787581" cy="4108172"/>
          </a:xfrm>
        </p:spPr>
        <p:txBody>
          <a:bodyPr>
            <a:normAutofit/>
          </a:bodyPr>
          <a:lstStyle/>
          <a:p>
            <a:pPr>
              <a:defRPr sz="2400"/>
            </a:pPr>
            <a:r>
              <a:rPr sz="3200" dirty="0"/>
              <a:t>They increase computer reliability.</a:t>
            </a:r>
            <a:endParaRPr lang="en-US" sz="3200" dirty="0"/>
          </a:p>
          <a:p>
            <a:pPr>
              <a:defRPr sz="2400"/>
            </a:pPr>
            <a:endParaRPr sz="3200" dirty="0"/>
          </a:p>
          <a:p>
            <a:pPr>
              <a:defRPr sz="2400"/>
            </a:pPr>
            <a:r>
              <a:rPr sz="3200" dirty="0"/>
              <a:t>Most modern devices use multicore technology.</a:t>
            </a:r>
          </a:p>
          <a:p>
            <a:pPr>
              <a:defRPr sz="2400"/>
            </a:pPr>
            <a:endParaRPr lang="en-US" sz="3200" dirty="0"/>
          </a:p>
          <a:p>
            <a:pPr>
              <a:defRPr sz="2400"/>
            </a:pPr>
            <a:r>
              <a:rPr sz="3200" dirty="0"/>
              <a:t>Multicore technology is important in artificial intelligence.</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2336872"/>
            <a:ext cx="8079658" cy="4078675"/>
          </a:xfrm>
        </p:spPr>
        <p:txBody>
          <a:bodyPr>
            <a:normAutofit/>
          </a:bodyPr>
          <a:lstStyle/>
          <a:p>
            <a:pPr>
              <a:defRPr sz="2400"/>
            </a:pPr>
            <a:r>
              <a:rPr sz="3200" dirty="0"/>
              <a:t>It is also used in cloud computing.</a:t>
            </a:r>
            <a:endParaRPr lang="en-US" sz="3200" dirty="0"/>
          </a:p>
          <a:p>
            <a:pPr>
              <a:defRPr sz="2400"/>
            </a:pPr>
            <a:endParaRPr sz="3200" dirty="0"/>
          </a:p>
          <a:p>
            <a:pPr>
              <a:defRPr sz="2400"/>
            </a:pPr>
            <a:r>
              <a:rPr sz="3200" dirty="0"/>
              <a:t>Multicore technology makes computers faster, smarter, and more efficient.</a:t>
            </a:r>
          </a:p>
        </p:txBody>
      </p:sp>
    </p:spTree>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Vapor Trail</Template>
  <TotalTime>211</TotalTime>
  <Words>352</Words>
  <Application>Microsoft Office PowerPoint</Application>
  <PresentationFormat>On-screen Show (4:3)</PresentationFormat>
  <Paragraphs>63</Paragraphs>
  <Slides>26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Century Gothic</vt:lpstr>
      <vt:lpstr>Vapor Trail</vt:lpstr>
      <vt:lpstr>Multicore Technology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sudheer kumar</cp:lastModifiedBy>
  <cp:revision>7</cp:revision>
  <dcterms:created xsi:type="dcterms:W3CDTF">2013-01-27T09:14:16Z</dcterms:created>
  <dcterms:modified xsi:type="dcterms:W3CDTF">2026-07-15T01:18:22Z</dcterms:modified>
  <cp:category/>
</cp:coreProperties>
</file>